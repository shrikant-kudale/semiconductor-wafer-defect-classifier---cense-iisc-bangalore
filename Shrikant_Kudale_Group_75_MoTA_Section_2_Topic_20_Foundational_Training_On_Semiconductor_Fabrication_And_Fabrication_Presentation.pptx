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7" r:id="rId25"/>
    <p:sldId id="288" r:id="rId26"/>
    <p:sldId id="279" r:id="rId27"/>
    <p:sldId id="280" r:id="rId28"/>
    <p:sldId id="282" r:id="rId29"/>
    <p:sldId id="283" r:id="rId30"/>
    <p:sldId id="284" r:id="rId31"/>
    <p:sldId id="285" r:id="rId32"/>
    <p:sldId id="286" r:id="rId33"/>
    <p:sldId id="281" r:id="rId34"/>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1C7"/>
    <a:srgbClr val="5ACA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95" autoAdjust="0"/>
    <p:restoredTop sz="94610"/>
  </p:normalViewPr>
  <p:slideViewPr>
    <p:cSldViewPr snapToGrid="0" snapToObjects="1">
      <p:cViewPr varScale="1">
        <p:scale>
          <a:sx n="95" d="100"/>
          <a:sy n="95" d="100"/>
        </p:scale>
        <p:origin x="12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6952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21331-9E15-D6C2-F3E4-49EEE9072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43DBD-74FD-CA2A-D1A6-969185D6C6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01AA49A-2CB8-6FDA-A37B-A0C3992479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CD378-D9C3-FAD0-B5CD-F6F1B69DED7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8288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D89E-BB4D-434B-EF22-AD344FA6F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81725-D95A-4BB9-03EF-7187389F0A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94DC57-17C9-E870-2719-DCEE3367A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B0CC4B-C2B5-FBB2-733D-525BD0D6D4E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43480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1A372-0CB9-CBE6-0192-E42726AB9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93C7B-6691-7F0A-0B77-AEF51933DF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4EB4352-1A33-B821-E04B-D3B20B08B5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C89108-72B5-0D72-5E8C-F3F4A2E4AA9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828657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DFEF3-5B39-72C1-8539-C5115CB3E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4EE34-8D70-9F7D-DA6F-FBC0144986E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B3475D-988D-D075-75FB-1EDEDC7700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4C61D-7016-2BBB-F4C5-2DB43CFE30D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98501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90965-62D7-F4D3-3060-ADE9B66BE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1FA55-6967-9740-FED8-503BC32FCA0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71436FD-22F0-3A56-1CBB-2444EE351E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334C66-A6FB-A923-905C-F4CF7451996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39294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7B36-C225-F9F8-8AEB-4BBB540D2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7E7BF-7CCB-0FA5-5262-CC77690C19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3381D4-C79C-2069-1DEC-1035212D5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D1DFA-A458-C69A-247B-AFF13DF5181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465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7D660-7903-65EF-A725-59CEDC97F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DE5F5-4FFE-B1F6-8608-5F0507C303E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D100C8F-2093-99E1-AB75-53E93EDAF3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029442-EBE6-92D8-D206-56E42A17BE8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20262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C1E57-0650-5BC8-3C04-A689DBF26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CC88E-D45A-3266-AA4C-2625BDFAD00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B300DFE-3977-EE4D-5F9E-DFE5DD6A54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F5B80C-6A3E-CE5D-0A7F-FEBB4882740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23508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2E3CF-B9E1-8BE5-99F8-E801B3266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5B63D-1B13-7C2C-C76A-C627A185863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C28514-F063-C542-F6B2-F8B2FF7662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DB0ED6-E0D8-F863-8B14-592008FFC65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53091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9E5F-885B-BFEE-B799-AA4EF8ED5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77FC2-6B25-6293-F88A-1AA3E2B6E3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4295E1-8A71-9FCD-AD12-D285D0CF24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DFAB0-0B4A-459B-6F0E-B0B2464A3B6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74629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C8E6-D044-2BE8-DA87-6A8B901A9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C1DD2-4523-D061-90AE-9BE61F7BCEA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81C1E5A-C8D1-F95B-87C7-1E73942B85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2799E-2F8F-C2B0-9940-0DF279185EB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44316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6A9F6-7753-3B80-3802-6E52F45F8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6A202-A0A3-CCC2-FC52-15B9638558E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08C22B3-3933-48BE-9B5B-BC5F0609B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D6FEF5-B25D-4639-2D7F-C6E051F110E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66264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B135F-8AB3-F16C-7AE2-E1C9DAFEB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F0971-7C95-9862-879F-06ACC81618D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0516CE2-F3E1-355D-7AC5-F2F85E2FC6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5E015-0943-1587-F342-89C5A7BC0F6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08114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5E16A-E334-69B2-304B-BD5635DF2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48340-3138-5023-51B4-08E73029CE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C2C3C9-33DB-FEB8-BC4C-A1E7ED3C6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E5BE19-9CE1-4311-6525-8536516A890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5853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0C4F-1C8C-6840-0435-F30623B77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DE9F4-FF62-CDA4-0C44-62866524262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297290B-472D-14A5-DEEA-EE869F0C2F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03075-72F7-F3BA-2308-265203667ED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23554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2E35-A23D-CCC6-878B-41270E154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F61C4-355B-DDEE-781E-0EB9CEBA46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032E0E2-CF79-2B36-3D33-E134E97176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8C468E-73E9-A2CD-1700-FBC8C8367DB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03650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69BAE-4DE5-AC51-376F-8D4543816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DF236-1041-08DB-05D6-D3AB6C52630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03F8A35-89CC-3F0E-026B-54478441B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F4221-CCF5-0FE7-9213-E096D1E4F98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07808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6D43A-F69B-EDB3-81BE-3A4702168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76930-B752-D040-0977-4652FE0D591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85F72A-CB6A-076B-9D67-67C4A931FC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E874A-298E-A452-CE51-EA32D34B828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77511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EC342-5875-2DCB-40C5-6B44D1065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32976-508D-4809-D879-C5EF3B71B86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A81F3D-C41B-1FB6-D793-ECCCA9CE6B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9C7068-B604-40A7-B8D5-FD78916EEBF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90707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7390-D48C-2C63-A111-B921F4416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65B51-EB5B-95A7-80ED-2A2C9BBBB8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43CA6E-645D-204A-81FB-34E757FA66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6F1C7C-F413-90A0-E3D7-600000618EE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51337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965C-740C-44CB-63DA-B2A76F35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C8914-FC50-93E2-EC90-51081157E35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7A048CB-3F37-E3E8-51B1-B570EA3BB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83E01-36AB-E88F-1289-0A2674907E3B}"/>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76710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436F9-855C-BABF-0456-3E7DE1CC5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91D89-EDA7-4FA7-4B31-348A0F87477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73D4C9C-6831-4A97-63B2-4FF644084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E1AD16-2A82-26C5-53A5-51B582E3DC09}"/>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213794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8F01B-7D3C-D01B-6C41-12F123266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20223-A868-F5FA-38A2-7D07017DF1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176040D-6258-8EE3-B307-932EC6E0D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7DB325-1D64-0CB4-F1FC-9E652AD0C23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975874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C9F57-D045-ACD1-82DB-8FC736878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3286D-CA55-0B1A-CE84-905FB24DCC8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A659C90-6083-334B-0430-C86BC5D4B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DA081B-907F-83F5-4B4E-4A1AE1A60A2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851661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151B-B1AD-25A3-C9A8-0D0C62645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051B7-5CFE-9BC6-9CDD-74F6606338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D998D6-9B43-40D7-B1FE-8A0E9A2CB8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CD5537-F221-83F9-444F-9D5B974C2C3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2440466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80B8-44B9-53B5-475F-696A499E8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59507-2A1C-32B3-D2F8-BDEBF951730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418234-0399-1250-98BF-F1B7077E43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6E6BC5-38DC-EC0B-75B6-F6A08D3301A2}"/>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688720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CA81-C298-7BDC-CFDF-24C0BEEDB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59168-9C98-3447-D715-7B38DB26C63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1025F54-E3EE-3DFC-CF4D-37A3560B4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C0E790-E211-9DFD-1550-9DBC6B25CF3D}"/>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353705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1F39-3C6C-0848-5054-A03596E04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0BCF1-1B1B-FC4D-973A-1D0BAAFD57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CAE2B46-F808-5F8C-6628-F4EF34F2F7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F980E-9CF9-B530-BDE6-768C5034AA5F}"/>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46252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B55B6-78FD-2E17-26F5-9B9F9D8E3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A8B6A-CCC0-112E-8460-F4AAB92EAC7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4AAFFB5-6C4B-DDF2-94EF-F66DD7A2B7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9EF77D-48E1-07BA-0DD2-2F4BCF46911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403276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67DBC-CAA3-7266-321E-3D7F62B39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37521-D8AE-5208-3C4F-77024FA7BC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532B797-778E-2ED1-564D-8EDFB2F21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846D6-15DE-C678-54A2-B2ABF544595F}"/>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909885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3DEA-804A-7DB5-7B8C-1CDB2AC59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4FB02-B5A7-280B-E1F6-ADA11F8F9F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F186549-61E1-F29A-B894-1A7E5EA552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574D47-8B72-BE4B-0D7C-410E7AC2FDD2}"/>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042116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6E1A-CB31-3652-E013-87E0831B6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0E17E-FBE4-7BD7-DA8A-9E0985BB66E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C25BA7-C34E-81F6-E040-7139AD2C30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E8D695-F451-DCCA-A70C-FC7B6A2A5996}"/>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520258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hyperlink" Target="https://www.google.com/search?q=https://doi.org/10.1109/TSM.2021.3078421" TargetMode="External"/><Relationship Id="rId3" Type="http://schemas.openxmlformats.org/officeDocument/2006/relationships/image" Target="../media/image1.png"/><Relationship Id="rId7" Type="http://schemas.openxmlformats.org/officeDocument/2006/relationships/hyperlink" Target="https://www.google.com/search?q=https://doi.org/10.5573/JSTS.2023.23.4.215"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11" Type="http://schemas.openxmlformats.org/officeDocument/2006/relationships/hyperlink" Target="https://www.google.com/search?q=https://doi.org/10.1109/ACCESS.2021.3050215" TargetMode="External"/><Relationship Id="rId5" Type="http://schemas.openxmlformats.org/officeDocument/2006/relationships/hyperlink" Target="https://github.com/Shrikant-Kudale/Semiconductor-Wafer-Defect-Classifier---CeNSE-IISc-Bangalore/tree/main" TargetMode="External"/><Relationship Id="rId10" Type="http://schemas.openxmlformats.org/officeDocument/2006/relationships/hyperlink" Target="https://www.google.com/search?q=https://doi.org/10.1016/j.eswa.2021.116245" TargetMode="External"/><Relationship Id="rId4" Type="http://schemas.openxmlformats.org/officeDocument/2006/relationships/image" Target="../media/image2.png"/><Relationship Id="rId9" Type="http://schemas.openxmlformats.org/officeDocument/2006/relationships/hyperlink" Target="https://www.google.com/search?q=https://doi.org/10.1007/s10845-020-01557-w"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google.com/search?q=https://doi.org/10.1016/j.jprocont.2022.05.004" TargetMode="External"/><Relationship Id="rId3" Type="http://schemas.openxmlformats.org/officeDocument/2006/relationships/image" Target="../media/image1.png"/><Relationship Id="rId7" Type="http://schemas.openxmlformats.org/officeDocument/2006/relationships/hyperlink" Target="https://www.google.com/search?q=https://doi.org/10.1016/j.mee.2023.111985"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11" Type="http://schemas.openxmlformats.org/officeDocument/2006/relationships/hyperlink" Target="https://www.google.com/search?q=https://doi.org/10.1016/j.jmsy.2024.01.012" TargetMode="External"/><Relationship Id="rId5" Type="http://schemas.openxmlformats.org/officeDocument/2006/relationships/hyperlink" Target="https://github.com/Shrikant-Kudale/Semiconductor-Wafer-Defect-Classifier---CeNSE-IISc-Bangalore/tree/main" TargetMode="External"/><Relationship Id="rId10" Type="http://schemas.openxmlformats.org/officeDocument/2006/relationships/hyperlink" Target="https://www.google.com/search?q=https://doi.org/10.1109/TASE.2021.3090870" TargetMode="External"/><Relationship Id="rId4" Type="http://schemas.openxmlformats.org/officeDocument/2006/relationships/image" Target="../media/image2.png"/><Relationship Id="rId9" Type="http://schemas.openxmlformats.org/officeDocument/2006/relationships/hyperlink" Target="https://www.google.com/search?q=https://doi.org/10.3390/app12094250"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 Id="rId9"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11" Type="http://schemas.openxmlformats.org/officeDocument/2006/relationships/image" Target="../media/image13.png"/><Relationship Id="rId5" Type="http://schemas.openxmlformats.org/officeDocument/2006/relationships/hyperlink" Target="https://github.com/Shrikant-Kudale/Semiconductor-Wafer-Defect-Classifier---CeNSE-IISc-Bangalore/tree/main" TargetMode="External"/><Relationship Id="rId10"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 Id="rId9" Type="http://schemas.openxmlformats.org/officeDocument/2006/relationships/image" Target="../media/image16.png"/></Relationships>
</file>

<file path=ppt/slides/_rels/slide3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 Id="rId9" Type="http://schemas.openxmlformats.org/officeDocument/2006/relationships/image" Target="../media/image19.png"/></Relationships>
</file>

<file path=ppt/slides/_rels/slide3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10"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22.png"/></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s://semiconductor-wafer-defect-classifier-cense-iisc-bangalore.streamlit.app/" TargetMode="External"/><Relationship Id="rId5" Type="http://schemas.openxmlformats.org/officeDocument/2006/relationships/hyperlink" Target="https://github.com/Shrikant-Kudale/Semiconductor-Wafer-Defect-Classifier---CeNSE-IISc-Bangalore/tree/main"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l="-15000" t="-6000" r="-21000"/>
          </a:stretch>
        </a:blipFill>
        <a:effectLst/>
      </p:bgPr>
    </p:bg>
    <p:spTree>
      <p:nvGrpSpPr>
        <p:cNvPr id="1" name=""/>
        <p:cNvGrpSpPr/>
        <p:nvPr/>
      </p:nvGrpSpPr>
      <p:grpSpPr>
        <a:xfrm>
          <a:off x="0" y="0"/>
          <a:ext cx="0" cy="0"/>
          <a:chOff x="0" y="0"/>
          <a:chExt cx="0" cy="0"/>
        </a:xfrm>
      </p:grpSpPr>
      <p:pic>
        <p:nvPicPr>
          <p:cNvPr id="2" name="Image 0" descr="footer_bright.png"/>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E4B3B0BA-947C-EA1D-7E56-599FB882ABD5}"/>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BBBE123-4B86-2D5D-934F-88B433268738}"/>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0369525B-2332-4584-ABFF-50D22EE7A27B}"/>
              </a:ext>
            </a:extLst>
          </p:cNvPr>
          <p:cNvSpPr txBox="1"/>
          <p:nvPr/>
        </p:nvSpPr>
        <p:spPr>
          <a:xfrm>
            <a:off x="160420" y="1176823"/>
            <a:ext cx="8494295" cy="4334520"/>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Machine Learning-Based Defect Classification in Semiconductor Manufacturing</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1600" dirty="0">
                <a:effectLst/>
                <a:latin typeface="Times New Roman" panose="02020603050405020304" pitchFamily="18" charset="0"/>
                <a:ea typeface="Times New Roman" panose="02020603050405020304" pitchFamily="18" charset="0"/>
              </a:rPr>
              <a:t>A Hybrid Approach Combining Simulated Process-Metrology Features and Wafer-Map </a:t>
            </a:r>
          </a:p>
          <a:p>
            <a:pPr>
              <a:spcBef>
                <a:spcPts val="400"/>
              </a:spcBef>
              <a:spcAft>
                <a:spcPts val="400"/>
              </a:spcAft>
              <a:buNone/>
            </a:pPr>
            <a:r>
              <a:rPr lang="en-IN" sz="1600" dirty="0">
                <a:effectLst/>
                <a:latin typeface="Times New Roman" panose="02020603050405020304" pitchFamily="18" charset="0"/>
                <a:ea typeface="Times New Roman" panose="02020603050405020304" pitchFamily="18" charset="0"/>
              </a:rPr>
              <a:t>Pattern Recognition</a:t>
            </a:r>
          </a:p>
          <a:p>
            <a:pPr>
              <a:spcBef>
                <a:spcPts val="400"/>
              </a:spcBef>
              <a:spcAft>
                <a:spcPts val="400"/>
              </a:spcAft>
              <a:buNone/>
            </a:pPr>
            <a:endParaRPr lang="en-IN" sz="14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Presented by: </a:t>
            </a:r>
            <a:r>
              <a:rPr lang="en-IN" sz="1800" b="1" dirty="0">
                <a:effectLst/>
                <a:latin typeface="Times New Roman" panose="02020603050405020304" pitchFamily="18" charset="0"/>
                <a:ea typeface="Times New Roman" panose="02020603050405020304" pitchFamily="18" charset="0"/>
              </a:rPr>
              <a:t>Shrikant Subhash </a:t>
            </a:r>
            <a:r>
              <a:rPr lang="en-IN" sz="1800" b="1" dirty="0" err="1">
                <a:effectLst/>
                <a:latin typeface="Times New Roman" panose="02020603050405020304" pitchFamily="18" charset="0"/>
                <a:ea typeface="Times New Roman" panose="02020603050405020304" pitchFamily="18" charset="0"/>
              </a:rPr>
              <a:t>Kudale</a:t>
            </a:r>
            <a:r>
              <a:rPr lang="en-IN" sz="1800" b="1" dirty="0">
                <a:effectLst/>
                <a:latin typeface="Times New Roman" panose="02020603050405020304" pitchFamily="18" charset="0"/>
                <a:ea typeface="Times New Roman" panose="02020603050405020304" pitchFamily="18" charset="0"/>
              </a:rPr>
              <a:t> </a:t>
            </a:r>
          </a:p>
          <a:p>
            <a:pPr>
              <a:spcBef>
                <a:spcPts val="200"/>
              </a:spcBef>
              <a:spcAft>
                <a:spcPts val="200"/>
              </a:spcAft>
              <a:buNone/>
            </a:pPr>
            <a:r>
              <a:rPr lang="en-IN" sz="1200" dirty="0">
                <a:effectLst/>
                <a:latin typeface="Times New Roman" panose="02020603050405020304" pitchFamily="18" charset="0"/>
                <a:ea typeface="Times New Roman" panose="02020603050405020304" pitchFamily="18" charset="0"/>
              </a:rPr>
              <a:t>Studying at : MIT ADT University, </a:t>
            </a:r>
            <a:r>
              <a:rPr lang="en-IN" sz="1200" dirty="0" err="1">
                <a:effectLst/>
                <a:latin typeface="Times New Roman" panose="02020603050405020304" pitchFamily="18" charset="0"/>
                <a:ea typeface="Times New Roman" panose="02020603050405020304" pitchFamily="18" charset="0"/>
              </a:rPr>
              <a:t>Rajbaugh</a:t>
            </a:r>
            <a:r>
              <a:rPr lang="en-IN" sz="1200" dirty="0">
                <a:effectLst/>
                <a:latin typeface="Times New Roman" panose="02020603050405020304" pitchFamily="18" charset="0"/>
                <a:ea typeface="Times New Roman" panose="02020603050405020304" pitchFamily="18" charset="0"/>
              </a:rPr>
              <a:t>, Pune – 412201.</a:t>
            </a:r>
          </a:p>
          <a:p>
            <a:pPr>
              <a:spcBef>
                <a:spcPts val="200"/>
              </a:spcBef>
              <a:spcAft>
                <a:spcPts val="200"/>
              </a:spcAft>
              <a:buNone/>
            </a:pPr>
            <a:r>
              <a:rPr lang="en-IN" sz="1200" dirty="0">
                <a:effectLst/>
                <a:latin typeface="Times New Roman" panose="02020603050405020304" pitchFamily="18" charset="0"/>
                <a:ea typeface="Times New Roman" panose="02020603050405020304" pitchFamily="18" charset="0"/>
              </a:rPr>
              <a:t>Department Of Computer Science &amp; Engineering – Artificial Intelligence &amp; Analytics</a:t>
            </a:r>
          </a:p>
          <a:p>
            <a:pPr>
              <a:spcBef>
                <a:spcPts val="200"/>
              </a:spcBef>
              <a:spcAft>
                <a:spcPts val="200"/>
              </a:spcAft>
              <a:buNone/>
            </a:pP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err="1">
                <a:solidFill>
                  <a:srgbClr val="0021C7"/>
                </a:solidFill>
                <a:effectLst/>
                <a:latin typeface="Times New Roman" panose="02020603050405020304" pitchFamily="18" charset="0"/>
                <a:ea typeface="Times New Roman" panose="02020603050405020304" pitchFamily="18" charset="0"/>
              </a:rPr>
              <a:t>MoTA</a:t>
            </a:r>
            <a:r>
              <a:rPr lang="en-IN" sz="1800" dirty="0">
                <a:solidFill>
                  <a:srgbClr val="0021C7"/>
                </a:solidFill>
                <a:effectLst/>
                <a:latin typeface="Times New Roman" panose="02020603050405020304" pitchFamily="18" charset="0"/>
                <a:ea typeface="Times New Roman" panose="02020603050405020304" pitchFamily="18" charset="0"/>
              </a:rPr>
              <a:t> Foundation Training Program on Semiconductor Fabrication &amp; Characterization</a:t>
            </a:r>
          </a:p>
          <a:p>
            <a:pPr>
              <a:spcBef>
                <a:spcPts val="200"/>
              </a:spcBef>
              <a:spcAft>
                <a:spcPts val="200"/>
              </a:spcAft>
              <a:buNone/>
            </a:pPr>
            <a:endParaRPr lang="en-IN" sz="1200" dirty="0">
              <a:solidFill>
                <a:srgbClr val="0021C7"/>
              </a:solidFill>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solidFill>
                  <a:srgbClr val="0021C7"/>
                </a:solidFill>
                <a:effectLst/>
                <a:latin typeface="Times New Roman" panose="02020603050405020304" pitchFamily="18" charset="0"/>
                <a:ea typeface="Times New Roman" panose="02020603050405020304" pitchFamily="18" charset="0"/>
              </a:rPr>
              <a:t>Centre for Nano Science and Engineering (</a:t>
            </a:r>
            <a:r>
              <a:rPr lang="en-IN" sz="1800" dirty="0" err="1">
                <a:solidFill>
                  <a:srgbClr val="0021C7"/>
                </a:solidFill>
                <a:effectLst/>
                <a:latin typeface="Times New Roman" panose="02020603050405020304" pitchFamily="18" charset="0"/>
                <a:ea typeface="Times New Roman" panose="02020603050405020304" pitchFamily="18" charset="0"/>
              </a:rPr>
              <a:t>CeNSE</a:t>
            </a:r>
            <a:r>
              <a:rPr lang="en-IN" sz="1800" dirty="0">
                <a:solidFill>
                  <a:srgbClr val="0021C7"/>
                </a:solidFill>
                <a:effectLst/>
                <a:latin typeface="Times New Roman" panose="02020603050405020304" pitchFamily="18" charset="0"/>
                <a:ea typeface="Times New Roman" panose="02020603050405020304" pitchFamily="18" charset="0"/>
              </a:rPr>
              <a:t>), IISc – Bengaluru</a:t>
            </a:r>
          </a:p>
          <a:p>
            <a:pPr>
              <a:spcBef>
                <a:spcPts val="200"/>
              </a:spcBef>
              <a:spcAft>
                <a:spcPts val="200"/>
              </a:spcAft>
              <a:buNone/>
            </a:pPr>
            <a:endParaRPr lang="en-IN" sz="1200" dirty="0">
              <a:solidFill>
                <a:srgbClr val="5ACAFE"/>
              </a:solidFill>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600" dirty="0">
                <a:effectLst/>
                <a:latin typeface="Times New Roman" panose="02020603050405020304" pitchFamily="18" charset="0"/>
                <a:ea typeface="Times New Roman" panose="02020603050405020304" pitchFamily="18" charset="0"/>
              </a:rPr>
              <a:t>8–19 June 2026 | Section 2 (Practical-Based) — Topic 20</a:t>
            </a:r>
            <a:endParaRPr lang="en-IN" sz="11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2F14AC43-B93A-D282-9733-4B2D77CB65DC}"/>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ED336E68-3898-9E1E-C232-F22C1D9D74A7}"/>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19AB5FF0-C172-3526-9CEE-9314445930D0}"/>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2CA06B5-AE72-C162-E8DB-404A9E5307A9}"/>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FFF9EBFB-D120-CF32-3A98-F4A9B57D8449}"/>
              </a:ext>
            </a:extLst>
          </p:cNvPr>
          <p:cNvSpPr txBox="1"/>
          <p:nvPr/>
        </p:nvSpPr>
        <p:spPr>
          <a:xfrm>
            <a:off x="352926" y="1743253"/>
            <a:ext cx="8069179" cy="3195747"/>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Agenda</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Project Phases Overview</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Background &amp; Literature Review (Phase 1)</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Dataset Design — Simulated Metrology &amp; Wafer-Map Data (Phase 2)</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Data Preprocessing &amp; Exploratory Data Analysis (Phase 3)</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Model Development — Classical ML &amp; CNN (Phase 4)</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5. Model Evaluation &amp; Results (Phase 5)</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6. Insights, Deployment Concept &amp; Future Scope (Phase 6)</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7. Conclusion</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8182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C6123AB3-172D-CAF3-FD98-1379EC31AC77}"/>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02277BC2-4C25-C8D1-31E1-CC8F74E9CEBB}"/>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BC173095-D062-67D2-63F2-DB972C21D315}"/>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AB41B7A-57EA-B6CA-8A53-6D28E45FA42F}"/>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F2951DE9-81CF-DD7C-5DDC-64E1ABCED324}"/>
              </a:ext>
            </a:extLst>
          </p:cNvPr>
          <p:cNvSpPr txBox="1"/>
          <p:nvPr/>
        </p:nvSpPr>
        <p:spPr>
          <a:xfrm>
            <a:off x="288757" y="1420758"/>
            <a:ext cx="8069179" cy="4016484"/>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Why Defect Detection Matters in Semiconductor Fabrication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1a — Background &amp; Motivation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Modern ICs are built through 300–1000+ sequential process steps (lithography, deposition, etch, doping, CMP, metrology)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 single defective die can fail an entire chip — direct impact on yield</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Even a 1% yield improvement on a high-volume fab line translates to large cost savings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Conventional defect review: manual optical/SEM inspection — slow, subjective, not scalable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Motivation: Automate defect classification (not just detection) using ML on metrology and wafer-map data</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8838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3148FB19-95E1-08CA-22C3-E78437C1B2F5}"/>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D40AB2E0-422A-AEA6-3AE7-CB44C8755B5E}"/>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F1E8596E-6F96-0AD5-770C-9D22130BBA3A}"/>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43DFCD3-EE60-4124-EEE9-46AC0AEAA62E}"/>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0463D15-7C5B-2356-63D2-DA44FFB22251}"/>
              </a:ext>
            </a:extLst>
          </p:cNvPr>
          <p:cNvSpPr txBox="1"/>
          <p:nvPr/>
        </p:nvSpPr>
        <p:spPr>
          <a:xfrm>
            <a:off x="224589" y="1466924"/>
            <a:ext cx="8069179" cy="3924151"/>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Literature Survey</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1b — Key Studies &amp; Research Gap</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Wafer-map failure pattern recognition is a well-studied problem in semiconductor data analytics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Early work used hand-crafted spatial features (density, geometry, radon-transform features) with classical classifiers (KNN, SVM, Decision Trees)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Later studies applied Convolutional Neural Networks (CNNs) directly on wafer-map images, improving accuracy on visually similar classes (Edge-Loc vs Edge-Ring, Donut vs Loc)</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Ensemble approaches (voting/stacking of multiple classifiers) reported further gains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Research gap identified: Most published work uses either spatial image features or process-metrology features — rarely both together</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42218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DA58AC4B-93ED-7966-A552-C2E3315F73A2}"/>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63E1BAAF-7894-50E9-66CD-A9C01F2C1396}"/>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9D53157F-7EA2-69D9-AD94-EC0A77B1B529}"/>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EE770E3-769C-D6FE-3D01-1E5BFACC5131}"/>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9361AC0C-D78F-5CB6-E691-0500941FDA90}"/>
              </a:ext>
            </a:extLst>
          </p:cNvPr>
          <p:cNvSpPr txBox="1"/>
          <p:nvPr/>
        </p:nvSpPr>
        <p:spPr>
          <a:xfrm>
            <a:off x="224589" y="639897"/>
            <a:ext cx="8069179" cy="4960332"/>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Problem Statement, Objectives &amp; Scope</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1c — Project Definition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Problem Statement:</a:t>
            </a:r>
            <a:r>
              <a:rPr lang="en-IN" sz="12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Design and evaluate a machine-learning pipeline that classifies semiconductor wafer defect patterns into 9 standard categories using (</a:t>
            </a:r>
            <a:r>
              <a:rPr lang="en-IN" sz="1800" dirty="0" err="1">
                <a:effectLst/>
                <a:latin typeface="Times New Roman" panose="02020603050405020304" pitchFamily="18" charset="0"/>
                <a:ea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rPr>
              <a:t>) tabular process-metrology features and (ii) wafer-map images, on a realistically-simulated dataset.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Objectives: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Build a domain-realistic simulated dataset (no access to confidential fab data)</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Perform preprocessing &amp; EDA to understand class-wise feature behaviour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Train and compare classical ML models (Random Forest, SVM, </a:t>
            </a:r>
            <a:r>
              <a:rPr lang="en-IN" sz="1800" dirty="0" err="1">
                <a:effectLst/>
                <a:latin typeface="Times New Roman" panose="02020603050405020304" pitchFamily="18" charset="0"/>
                <a:ea typeface="Times New Roman" panose="02020603050405020304" pitchFamily="18" charset="0"/>
              </a:rPr>
              <a:t>XGBoost</a:t>
            </a:r>
            <a:r>
              <a:rPr lang="en-IN" sz="1800" dirty="0">
                <a:effectLst/>
                <a:latin typeface="Times New Roman" panose="02020603050405020304" pitchFamily="18" charset="0"/>
                <a:ea typeface="Times New Roman" panose="02020603050405020304" pitchFamily="18" charset="0"/>
              </a:rPr>
              <a:t>, ANN)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Build and train a CNN on simulated wafer-map images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5. Evaluate using accuracy, precision, recall, F1-score &amp; confusion matrices (target &gt; 85%)</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6. Outline a deployment concept (Streamlit prediction interface)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Scope: Educational/proof-of-concept; simulated data stands in for proprietary fab data</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64653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ED91FE2E-E408-F965-03D3-1D437E0EF7A8}"/>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9E01D72E-EAE8-5029-6031-AE0C1F7248C7}"/>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DE5B0961-9782-CBAE-B2EE-BD8B67733182}"/>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06DC29B-9DE2-4C87-6438-6DB3D352ACBF}"/>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6D9127DB-0182-DAF7-8FD1-58B09681B2C2}"/>
              </a:ext>
            </a:extLst>
          </p:cNvPr>
          <p:cNvSpPr txBox="1"/>
          <p:nvPr/>
        </p:nvSpPr>
        <p:spPr>
          <a:xfrm>
            <a:off x="224589" y="1674906"/>
            <a:ext cx="8069179" cy="3554819"/>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Dataset Design Philosophy &amp; Defect Taxonomy</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2a — 9-Class Industry-Standard Taxonomy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- 9-class taxonomy (industry-standard, based on WM-811K):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Donut, Edge-Loc, Edge-Ring, Loc, Random, Scratch, Near-Full, Normal (no pattern)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Each class has a distinct physical root cause in the fab process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Design approach: generate a synthetic 2-D wafer-defect map for each class, then derive both (a) the image itself (for CNN) and (b) summary metrology features from it (for classical ML)</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 imbalance intentionally mirrors real fabs: Normal and Random are most frequent; Near-Full and Donut are rarer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7360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5FA6B0A9-A860-2552-BD3E-24082D69DFAC}"/>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8CE9D389-53C3-200F-BF71-EA91832EB6F9}"/>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EE3783EA-845B-FF97-450E-E6DB9D2F8D7A}"/>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47335F1-693E-7A73-66C9-E6CDDB24C338}"/>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DEC244AC-09D4-49CB-154E-BCC60A4C3D10}"/>
              </a:ext>
            </a:extLst>
          </p:cNvPr>
          <p:cNvSpPr txBox="1"/>
          <p:nvPr/>
        </p:nvSpPr>
        <p:spPr>
          <a:xfrm>
            <a:off x="473243" y="1510526"/>
            <a:ext cx="8069179" cy="3836948"/>
          </a:xfrm>
          <a:prstGeom prst="rect">
            <a:avLst/>
          </a:prstGeom>
          <a:noFill/>
        </p:spPr>
        <p:txBody>
          <a:bodyPr wrap="square" rtlCol="0">
            <a:spAutoFit/>
          </a:bodyPr>
          <a:lstStyle/>
          <a:p>
            <a:pPr>
              <a:spcBef>
                <a:spcPts val="200"/>
              </a:spcBef>
              <a:spcAft>
                <a:spcPts val="200"/>
              </a:spcAft>
              <a:buNone/>
            </a:pPr>
            <a:r>
              <a:rPr lang="en-IN" sz="2400" b="1" dirty="0">
                <a:effectLst/>
                <a:latin typeface="Times New Roman" panose="02020603050405020304" pitchFamily="18" charset="0"/>
                <a:ea typeface="Times New Roman" panose="02020603050405020304" pitchFamily="18" charset="0"/>
              </a:rPr>
              <a:t>Class — Root Cause Summary:</a:t>
            </a:r>
          </a:p>
          <a:p>
            <a:pPr>
              <a:spcBef>
                <a:spcPts val="200"/>
              </a:spcBef>
              <a:spcAft>
                <a:spcPts val="200"/>
              </a:spcAft>
              <a:buNone/>
            </a:pPr>
            <a:endParaRPr lang="en-IN" sz="2400" b="1"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Normal — Healthy process, no pattern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 CMP pad centre-wear, deposition non-uniformity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Donut — Etch/CMP non-uniformity at mid-radius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Edge-Loc — Edge-bead removal issue, edge handling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5. Edge-Ring — Edge exclusion zone process drift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6. Loc — Local contamination or particle event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7. Random — Background defectivity, random particles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8. Scratch — Wafer handling, robot arm scratch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9. Near-Full — Major process excursion (gross film failure)</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13444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A58E61E5-8C5D-7E98-CB5D-16588FD2FC8D}"/>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E87C72BF-B845-5079-9092-2CBFEDBFD276}"/>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DE4BBE07-E724-7F34-108D-52DD3A0B21B9}"/>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FED87EE-F958-8CFE-0C35-DA17597D6E26}"/>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B3051D74-FBE1-331D-2DC6-C67227F05461}"/>
              </a:ext>
            </a:extLst>
          </p:cNvPr>
          <p:cNvSpPr txBox="1"/>
          <p:nvPr/>
        </p:nvSpPr>
        <p:spPr>
          <a:xfrm>
            <a:off x="224589" y="1339516"/>
            <a:ext cx="8069179" cy="4842351"/>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Tabular Metrology Feature Dataset</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2b — Feature Set Design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Approximately 5,400 simulated wafers (600 per class x 9 classes), stratified for realistic imbalance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Spatial / Inspection-Derived Features: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defect_count</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defect_density</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mean_radial_position</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std_radial_position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edge_ratio</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center_ratio</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cluster_count</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max_cluster_size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Process-Metrology Features (per wafer):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oxide_thickness_nm</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critical_dimension_nm</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overlay_error_nm</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line_edge_roughness_nm</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etch_uniformity_pct</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particle_contamination_index</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wafer_yield_pct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Label column: </a:t>
            </a:r>
            <a:r>
              <a:rPr lang="en-IN" sz="1800" dirty="0" err="1">
                <a:effectLst/>
                <a:latin typeface="Times New Roman" panose="02020603050405020304" pitchFamily="18" charset="0"/>
                <a:ea typeface="Times New Roman" panose="02020603050405020304" pitchFamily="18" charset="0"/>
              </a:rPr>
              <a:t>defect_class</a:t>
            </a:r>
            <a:r>
              <a:rPr lang="en-IN" sz="1800" dirty="0">
                <a:effectLst/>
                <a:latin typeface="Times New Roman" panose="02020603050405020304" pitchFamily="18" charset="0"/>
                <a:ea typeface="Times New Roman" panose="02020603050405020304" pitchFamily="18" charset="0"/>
              </a:rPr>
              <a:t> (9 categories)</a:t>
            </a:r>
            <a:endParaRPr lang="en-IN" sz="1200" dirty="0">
              <a:effectLst/>
              <a:latin typeface="Times New Roman" panose="02020603050405020304" pitchFamily="18" charset="0"/>
              <a:ea typeface="Times New Roman" panose="02020603050405020304" pitchFamily="18" charset="0"/>
            </a:endParaRPr>
          </a:p>
          <a:p>
            <a:pPr>
              <a:buNone/>
            </a:pPr>
            <a:br>
              <a:rPr lang="en-IN" dirty="0">
                <a:effectLst/>
              </a:rPr>
            </a:br>
            <a:endParaRPr lang="en-IN" dirty="0">
              <a:effectLst/>
            </a:endParaRPr>
          </a:p>
          <a:p>
            <a:pPr>
              <a:buNone/>
            </a:pPr>
            <a:r>
              <a:rPr lang="en-IN" sz="12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647969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94B1B3AA-C979-EEA5-7A43-FBD307074D25}"/>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93DE94AE-6E32-D18A-EF7C-F6E40EBA0BC6}"/>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CB4D720F-44D6-B4CF-8E68-312FF43A1AA6}"/>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C055A75-BA22-56CB-48DE-1481E22AB084}"/>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D0D9A2CD-54D8-03E4-E02F-CCF485C73DBE}"/>
              </a:ext>
            </a:extLst>
          </p:cNvPr>
          <p:cNvSpPr txBox="1"/>
          <p:nvPr/>
        </p:nvSpPr>
        <p:spPr>
          <a:xfrm>
            <a:off x="304799" y="1110803"/>
            <a:ext cx="8069179" cy="4406334"/>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Simulated Wafer-Map Image Dataset</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2c — Image Data for CNN Branch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Each wafer represented as a 32x32 grid (die-level map)</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Values: 0 = pass die, 1 = fail/defective die; masked outside the circular wafer boundary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Procedurally generated per class using parametric spatial rules: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 Gaussian blob near centre for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class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 Annular band for Donut and Edge-Ring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 Random Bernoulli scatter for Random</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 Line segment for Scratch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- 300 images per class x 9 classes = 2,700 wafer maps total</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Same </a:t>
            </a:r>
            <a:r>
              <a:rPr lang="en-IN" sz="1800" dirty="0" err="1">
                <a:effectLst/>
                <a:latin typeface="Times New Roman" panose="02020603050405020304" pitchFamily="18" charset="0"/>
                <a:ea typeface="Times New Roman" panose="02020603050405020304" pitchFamily="18" charset="0"/>
              </a:rPr>
              <a:t>defect_class</a:t>
            </a:r>
            <a:r>
              <a:rPr lang="en-IN" sz="1800" dirty="0">
                <a:effectLst/>
                <a:latin typeface="Times New Roman" panose="02020603050405020304" pitchFamily="18" charset="0"/>
                <a:ea typeface="Times New Roman" panose="02020603050405020304" pitchFamily="18" charset="0"/>
              </a:rPr>
              <a:t> label links each image to its tabular feature row — enables fair comparison between both branches on identical ground truth</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33343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772933AD-E9EB-6654-F16A-716BD992CDC1}"/>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466D7976-02D3-E41E-12AC-D3420EB4F1DE}"/>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DF36F332-936F-D09B-1823-EC2A8B33636D}"/>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F49EA2C-3BED-CAC1-8056-3C419D0D01FC}"/>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86394A08-6849-2E5A-D387-67BF3F606070}"/>
              </a:ext>
            </a:extLst>
          </p:cNvPr>
          <p:cNvSpPr txBox="1"/>
          <p:nvPr/>
        </p:nvSpPr>
        <p:spPr>
          <a:xfrm>
            <a:off x="368968" y="1845633"/>
            <a:ext cx="8069179" cy="3041858"/>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Data Cleaning &amp; Train/Validation/Test Split</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3a — Preprocessing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Checked for missing values, duplicate rows, and out-of-range metrology values — none found by construction, but validation step included as good practice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Stratified split: 70% Train / 15% Validation / 15% Test — stratified on </a:t>
            </a:r>
            <a:r>
              <a:rPr lang="en-IN" sz="1800" dirty="0" err="1">
                <a:effectLst/>
                <a:latin typeface="Times New Roman" panose="02020603050405020304" pitchFamily="18" charset="0"/>
                <a:ea typeface="Times New Roman" panose="02020603050405020304" pitchFamily="18" charset="0"/>
              </a:rPr>
              <a:t>defect_class</a:t>
            </a:r>
            <a:r>
              <a:rPr lang="en-IN" sz="1800" dirty="0">
                <a:effectLst/>
                <a:latin typeface="Times New Roman" panose="02020603050405020304" pitchFamily="18" charset="0"/>
                <a:ea typeface="Times New Roman" panose="02020603050405020304" pitchFamily="18" charset="0"/>
              </a:rPr>
              <a:t> to preserve class proportions in every split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Fixed </a:t>
            </a:r>
            <a:r>
              <a:rPr lang="en-IN" sz="1800" dirty="0" err="1">
                <a:effectLst/>
                <a:latin typeface="Times New Roman" panose="02020603050405020304" pitchFamily="18" charset="0"/>
                <a:ea typeface="Times New Roman" panose="02020603050405020304" pitchFamily="18" charset="0"/>
              </a:rPr>
              <a:t>random_state</a:t>
            </a:r>
            <a:r>
              <a:rPr lang="en-IN" sz="1800" dirty="0">
                <a:effectLst/>
                <a:latin typeface="Times New Roman" panose="02020603050405020304" pitchFamily="18" charset="0"/>
                <a:ea typeface="Times New Roman" panose="02020603050405020304" pitchFamily="18" charset="0"/>
              </a:rPr>
              <a:t> used throughout for reproducibility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Same split indices reused for both the tabular dataset and the wafer-map image dataset (paired samples)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78619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24513FB3-8736-5F4C-D0B2-E9CF4E2BE0EF}"/>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B6EF3DEB-82B3-EEA7-2FB1-1DE6CD697C44}"/>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89797697-DFCD-5A05-14BB-2B9CF534F99C}"/>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69F69C5-4C60-1CE7-E476-D4B04DBE3DC5}"/>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26C2E08A-337A-F599-B9BE-AB6D97A66897}"/>
              </a:ext>
            </a:extLst>
          </p:cNvPr>
          <p:cNvSpPr txBox="1"/>
          <p:nvPr/>
        </p:nvSpPr>
        <p:spPr>
          <a:xfrm>
            <a:off x="224589" y="1554128"/>
            <a:ext cx="8069179" cy="3749744"/>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Exploratory Data Analysis: Tabular Features</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3b — EDA Insights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 distribution bar chart — visualizes intentional imbalance (Normal &amp; Random most frequent)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Correlation heatmap of numeric metrology features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Box plots of </a:t>
            </a:r>
            <a:r>
              <a:rPr lang="en-IN" sz="1800" dirty="0" err="1">
                <a:effectLst/>
                <a:latin typeface="Times New Roman" panose="02020603050405020304" pitchFamily="18" charset="0"/>
                <a:ea typeface="Times New Roman" panose="02020603050405020304" pitchFamily="18" charset="0"/>
              </a:rPr>
              <a:t>edge_ratio</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defect_density</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overlay_error_nm</a:t>
            </a:r>
            <a:r>
              <a:rPr lang="en-IN" sz="1800" dirty="0">
                <a:effectLst/>
                <a:latin typeface="Times New Roman" panose="02020603050405020304" pitchFamily="18" charset="0"/>
                <a:ea typeface="Times New Roman" panose="02020603050405020304" pitchFamily="18" charset="0"/>
              </a:rPr>
              <a:t> grouped by </a:t>
            </a:r>
            <a:r>
              <a:rPr lang="en-IN" sz="1800" dirty="0" err="1">
                <a:effectLst/>
                <a:latin typeface="Times New Roman" panose="02020603050405020304" pitchFamily="18" charset="0"/>
                <a:ea typeface="Times New Roman" panose="02020603050405020304" pitchFamily="18" charset="0"/>
              </a:rPr>
              <a:t>defect_class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Key Insights: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edge_ratio</a:t>
            </a:r>
            <a:r>
              <a:rPr lang="en-IN" sz="1800" dirty="0">
                <a:effectLst/>
                <a:latin typeface="Times New Roman" panose="02020603050405020304" pitchFamily="18" charset="0"/>
                <a:ea typeface="Times New Roman" panose="02020603050405020304" pitchFamily="18" charset="0"/>
              </a:rPr>
              <a:t> clearly separates Edge-Ring/Edge-Loc from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/Donut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defect_density</a:t>
            </a:r>
            <a:r>
              <a:rPr lang="en-IN" sz="1800" dirty="0">
                <a:effectLst/>
                <a:latin typeface="Times New Roman" panose="02020603050405020304" pitchFamily="18" charset="0"/>
                <a:ea typeface="Times New Roman" panose="02020603050405020304" pitchFamily="18" charset="0"/>
              </a:rPr>
              <a:t> separates Near-Full/Random from Normal</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Features show mild correlations — justifies use of direct tabular input without heavy dimensionality reduction</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9756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A059FB2B-180E-C30D-41C7-65640E97C66C}"/>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2A630505-9277-A9AC-46ED-A6C95CAF67F7}"/>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B039E913-C97D-2F49-B120-202552D96D2D}"/>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8EB23FA-8A9F-C3E6-299E-274629F87397}"/>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5505C3F-FF89-2CC3-3A8A-6B5D8B708D16}"/>
              </a:ext>
            </a:extLst>
          </p:cNvPr>
          <p:cNvSpPr txBox="1"/>
          <p:nvPr/>
        </p:nvSpPr>
        <p:spPr>
          <a:xfrm>
            <a:off x="160421" y="1106905"/>
            <a:ext cx="8069179" cy="4355038"/>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Wafer-Map Preprocessing &amp; Augmentation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3c — CNN Branch Preparation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Pixel values normalized to [0, 1] (binary 0/1 here; normalization kept for generality)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Reshaped to (32, 32, 1) — single-channel image format required by CNN input layer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Labels one-hot encoded for 9-class </a:t>
            </a:r>
            <a:r>
              <a:rPr lang="en-IN" sz="1800" dirty="0" err="1">
                <a:effectLst/>
                <a:latin typeface="Times New Roman" panose="02020603050405020304" pitchFamily="18" charset="0"/>
                <a:ea typeface="Times New Roman" panose="02020603050405020304" pitchFamily="18" charset="0"/>
              </a:rPr>
              <a:t>softmax</a:t>
            </a:r>
            <a:r>
              <a:rPr lang="en-IN" sz="1800" dirty="0">
                <a:effectLst/>
                <a:latin typeface="Times New Roman" panose="02020603050405020304" pitchFamily="18" charset="0"/>
                <a:ea typeface="Times New Roman" panose="02020603050405020304" pitchFamily="18" charset="0"/>
              </a:rPr>
              <a:t> output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Augmentation (applied only on training split):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Random horizontal and vertical flip</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Small rotation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Purpose: improve generalization and reduce overfitting on the relatively small image 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Note: large shears or non-uniform scaling avoided — would distort radial relationships that define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Edge-Ring, and Donut classes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7072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7205B48C-E5F9-6823-374B-339C6301D802}"/>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150AE3A4-ADA6-6DF3-3893-EEF3CB557BF6}"/>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473BC1AA-C283-C8AC-260C-0580AD645347}"/>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EF8B848-6EE7-9914-7011-8D265FF69B62}"/>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8DA85B94-975F-5FDC-3496-091DCFEF7467}"/>
              </a:ext>
            </a:extLst>
          </p:cNvPr>
          <p:cNvSpPr txBox="1"/>
          <p:nvPr/>
        </p:nvSpPr>
        <p:spPr>
          <a:xfrm>
            <a:off x="224589" y="1219200"/>
            <a:ext cx="8069179" cy="4252446"/>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Classical ML Models for Tabular Metrology Classification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4a — Model Selection &amp; Configuration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Models trained on the tabular metrology feature dataset: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Random Forest — </a:t>
            </a:r>
            <a:r>
              <a:rPr lang="en-IN" sz="1800" dirty="0" err="1">
                <a:effectLst/>
                <a:latin typeface="Times New Roman" panose="02020603050405020304" pitchFamily="18" charset="0"/>
                <a:ea typeface="Times New Roman" panose="02020603050405020304" pitchFamily="18" charset="0"/>
              </a:rPr>
              <a:t>n_estimators</a:t>
            </a:r>
            <a:r>
              <a:rPr lang="en-IN" sz="1800" dirty="0">
                <a:effectLst/>
                <a:latin typeface="Times New Roman" panose="02020603050405020304" pitchFamily="18" charset="0"/>
                <a:ea typeface="Times New Roman" panose="02020603050405020304" pitchFamily="18" charset="0"/>
              </a:rPr>
              <a:t>=200; ensemble of decision trees; robust to feature scale; provides feature importances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Support Vector Machine — RBF kernel, C=10, gamma=scale; strong for moderate-dimensional, well-scaled numeric data</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a:t>
            </a:r>
            <a:r>
              <a:rPr lang="en-IN" sz="1800" dirty="0" err="1">
                <a:effectLst/>
                <a:latin typeface="Times New Roman" panose="02020603050405020304" pitchFamily="18" charset="0"/>
                <a:ea typeface="Times New Roman" panose="02020603050405020304" pitchFamily="18" charset="0"/>
              </a:rPr>
              <a:t>XGBoost</a:t>
            </a:r>
            <a:r>
              <a:rPr lang="en-IN" sz="1800" dirty="0">
                <a:effectLst/>
                <a:latin typeface="Times New Roman" panose="02020603050405020304" pitchFamily="18" charset="0"/>
                <a:ea typeface="Times New Roman" panose="02020603050405020304" pitchFamily="18" charset="0"/>
              </a:rPr>
              <a:t> — gradient boosted trees, 200 estimators, learning rate=0.1; typically the strongest tabular baseline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Artificial Neural Network / MLP — Dense layers: 64 &gt; 32 &gt; 9; </a:t>
            </a:r>
            <a:r>
              <a:rPr lang="en-IN" sz="1800" dirty="0" err="1">
                <a:effectLst/>
                <a:latin typeface="Times New Roman" panose="02020603050405020304" pitchFamily="18" charset="0"/>
                <a:ea typeface="Times New Roman" panose="02020603050405020304" pitchFamily="18" charset="0"/>
              </a:rPr>
              <a:t>ReLU</a:t>
            </a:r>
            <a:r>
              <a:rPr lang="en-IN" sz="1800" dirty="0">
                <a:effectLst/>
                <a:latin typeface="Times New Roman" panose="02020603050405020304" pitchFamily="18" charset="0"/>
                <a:ea typeface="Times New Roman" panose="02020603050405020304" pitchFamily="18" charset="0"/>
              </a:rPr>
              <a:t> activation; </a:t>
            </a:r>
            <a:r>
              <a:rPr lang="en-IN" sz="1800" dirty="0" err="1">
                <a:effectLst/>
                <a:latin typeface="Times New Roman" panose="02020603050405020304" pitchFamily="18" charset="0"/>
                <a:ea typeface="Times New Roman" panose="02020603050405020304" pitchFamily="18" charset="0"/>
              </a:rPr>
              <a:t>softmax</a:t>
            </a:r>
            <a:r>
              <a:rPr lang="en-IN" sz="1800" dirty="0">
                <a:effectLst/>
                <a:latin typeface="Times New Roman" panose="02020603050405020304" pitchFamily="18" charset="0"/>
                <a:ea typeface="Times New Roman" panose="02020603050405020304" pitchFamily="18" charset="0"/>
              </a:rPr>
              <a:t> output; simple deep-learning baseline on tabular data</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Note: Features scaled with </a:t>
            </a:r>
            <a:r>
              <a:rPr lang="en-IN" sz="1800" dirty="0" err="1">
                <a:effectLst/>
                <a:latin typeface="Times New Roman" panose="02020603050405020304" pitchFamily="18" charset="0"/>
                <a:ea typeface="Times New Roman" panose="02020603050405020304" pitchFamily="18" charset="0"/>
              </a:rPr>
              <a:t>StandardScaler</a:t>
            </a:r>
            <a:r>
              <a:rPr lang="en-IN" sz="1800" dirty="0">
                <a:effectLst/>
                <a:latin typeface="Times New Roman" panose="02020603050405020304" pitchFamily="18" charset="0"/>
                <a:ea typeface="Times New Roman" panose="02020603050405020304" pitchFamily="18" charset="0"/>
              </a:rPr>
              <a:t> for SVM and ANN; tree-based models used raw features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56975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743750FC-C19A-D8DA-188E-1D3E17D519C2}"/>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AE79788E-DDFE-54D7-0164-CD34E3DB882F}"/>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916EEFB7-35E9-16CB-9D8F-F8DAD82236B9}"/>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84DA01A-40E4-4814-9C17-A2F0E2341CFC}"/>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E37C8A4-9BA3-1531-94FE-F8261457F1BF}"/>
              </a:ext>
            </a:extLst>
          </p:cNvPr>
          <p:cNvSpPr txBox="1"/>
          <p:nvPr/>
        </p:nvSpPr>
        <p:spPr>
          <a:xfrm>
            <a:off x="160424" y="1224210"/>
            <a:ext cx="8967536" cy="4180632"/>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CNN Architecture for Wafer-Map Classification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4b — Model Design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Input: 32x32x1 wafer-map image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Architecture: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Conv2D (32 filters, 3x3, </a:t>
            </a:r>
            <a:r>
              <a:rPr lang="en-IN" sz="1800" dirty="0" err="1">
                <a:effectLst/>
                <a:latin typeface="Times New Roman" panose="02020603050405020304" pitchFamily="18" charset="0"/>
                <a:ea typeface="Times New Roman" panose="02020603050405020304" pitchFamily="18" charset="0"/>
              </a:rPr>
              <a:t>ReLU</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MaxPool</a:t>
            </a:r>
            <a:r>
              <a:rPr lang="en-IN" sz="1800" dirty="0">
                <a:effectLst/>
                <a:latin typeface="Times New Roman" panose="02020603050405020304" pitchFamily="18" charset="0"/>
                <a:ea typeface="Times New Roman" panose="02020603050405020304" pitchFamily="18" charset="0"/>
              </a:rPr>
              <a:t> (2x2)</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Conv2D (64 filters, 3x3, </a:t>
            </a:r>
            <a:r>
              <a:rPr lang="en-IN" sz="1800" dirty="0" err="1">
                <a:effectLst/>
                <a:latin typeface="Times New Roman" panose="02020603050405020304" pitchFamily="18" charset="0"/>
                <a:ea typeface="Times New Roman" panose="02020603050405020304" pitchFamily="18" charset="0"/>
              </a:rPr>
              <a:t>ReLU</a:t>
            </a:r>
            <a:r>
              <a:rPr lang="en-IN" sz="1800" dirty="0">
                <a:effectLst/>
                <a:latin typeface="Times New Roman" panose="02020603050405020304" pitchFamily="18" charset="0"/>
                <a:ea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rPr>
              <a:t>MaxPool</a:t>
            </a:r>
            <a:r>
              <a:rPr lang="en-IN" sz="1800" dirty="0">
                <a:effectLst/>
                <a:latin typeface="Times New Roman" panose="02020603050405020304" pitchFamily="18" charset="0"/>
                <a:ea typeface="Times New Roman" panose="02020603050405020304" pitchFamily="18" charset="0"/>
              </a:rPr>
              <a:t> (2x2)</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Flatten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Dense (128 units, </a:t>
            </a:r>
            <a:r>
              <a:rPr lang="en-IN" sz="1800" dirty="0" err="1">
                <a:effectLst/>
                <a:latin typeface="Times New Roman" panose="02020603050405020304" pitchFamily="18" charset="0"/>
                <a:ea typeface="Times New Roman" panose="02020603050405020304" pitchFamily="18" charset="0"/>
              </a:rPr>
              <a:t>ReLU</a:t>
            </a:r>
            <a:r>
              <a:rPr lang="en-IN" sz="18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5. Dropout (0.3)</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6. Dense (9 units, </a:t>
            </a:r>
            <a:r>
              <a:rPr lang="en-IN" sz="1800" dirty="0" err="1">
                <a:effectLst/>
                <a:latin typeface="Times New Roman" panose="02020603050405020304" pitchFamily="18" charset="0"/>
                <a:ea typeface="Times New Roman" panose="02020603050405020304" pitchFamily="18" charset="0"/>
              </a:rPr>
              <a:t>Softmax</a:t>
            </a:r>
            <a:r>
              <a:rPr lang="en-IN" sz="1800" dirty="0">
                <a:effectLst/>
                <a:latin typeface="Times New Roman" panose="02020603050405020304" pitchFamily="18" charset="0"/>
                <a:ea typeface="Times New Roman" panose="02020603050405020304" pitchFamily="18" charset="0"/>
              </a:rPr>
              <a:t>) — output layer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Training Configuration: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Loss: Categorical Cross-Entropy</a:t>
            </a:r>
            <a:r>
              <a:rPr lang="en-IN" sz="1200" dirty="0">
                <a:latin typeface="Times New Roman" panose="02020603050405020304" pitchFamily="18" charset="0"/>
                <a:ea typeface="Times New Roman" panose="02020603050405020304" pitchFamily="18" charset="0"/>
              </a:rPr>
              <a:t> </a:t>
            </a:r>
            <a:r>
              <a:rPr lang="en-IN" dirty="0">
                <a:latin typeface="Times New Roman" panose="02020603050405020304" pitchFamily="18" charset="0"/>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 Optimizer: Adam (learning rate = 0.001)</a:t>
            </a:r>
            <a:r>
              <a:rPr lang="en-IN" sz="1200" dirty="0">
                <a:latin typeface="Times New Roman" panose="02020603050405020304" pitchFamily="18" charset="0"/>
                <a:ea typeface="Times New Roman" panose="02020603050405020304" pitchFamily="18" charset="0"/>
              </a:rPr>
              <a:t> | </a:t>
            </a:r>
            <a:r>
              <a:rPr lang="en-IN" sz="1800" dirty="0">
                <a:effectLst/>
                <a:latin typeface="Times New Roman" panose="02020603050405020304" pitchFamily="18" charset="0"/>
                <a:ea typeface="Times New Roman" panose="02020603050405020304" pitchFamily="18" charset="0"/>
              </a:rPr>
              <a:t>Metric: Accuracy</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55541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C92758A5-6666-E98E-E9E7-8D6128C6D35E}"/>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15193037-3899-BE46-4D27-B65433AFEE97}"/>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192DC9E7-6818-D2D9-A44F-B519AD52A880}"/>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0EE1C44-7257-95F9-59B2-01DC8021934C}"/>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F9810C2-AD49-717F-D2E0-DA6AFB4FA707}"/>
              </a:ext>
            </a:extLst>
          </p:cNvPr>
          <p:cNvSpPr txBox="1"/>
          <p:nvPr/>
        </p:nvSpPr>
        <p:spPr>
          <a:xfrm>
            <a:off x="224589" y="1326803"/>
            <a:ext cx="8069179" cy="4078039"/>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Training Process &amp; Convergence</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4c — Training Setup &amp; Observations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Classical ML models: trained on 70% training split; validated on 15% validation split for hyperparameter checks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trained for approximately 20–25 epochs; batch size = 32</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Training and validation accuracy &amp; loss curves plotted each epoch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EarlyStopping</a:t>
            </a:r>
            <a:r>
              <a:rPr lang="en-IN" sz="1800" dirty="0">
                <a:effectLst/>
                <a:latin typeface="Times New Roman" panose="02020603050405020304" pitchFamily="18" charset="0"/>
                <a:ea typeface="Times New Roman" panose="02020603050405020304" pitchFamily="18" charset="0"/>
              </a:rPr>
              <a:t> used: patience = 5 epochs, monitoring = </a:t>
            </a:r>
            <a:r>
              <a:rPr lang="en-IN" sz="1800" dirty="0" err="1">
                <a:effectLst/>
                <a:latin typeface="Times New Roman" panose="02020603050405020304" pitchFamily="18" charset="0"/>
                <a:ea typeface="Times New Roman" panose="02020603050405020304" pitchFamily="18" charset="0"/>
              </a:rPr>
              <a:t>val_loss</a:t>
            </a:r>
            <a:r>
              <a:rPr lang="en-IN" sz="1800" dirty="0">
                <a:effectLst/>
                <a:latin typeface="Times New Roman" panose="02020603050405020304" pitchFamily="18" charset="0"/>
                <a:ea typeface="Times New Roman" panose="02020603050405020304" pitchFamily="18" charset="0"/>
              </a:rPr>
              <a:t>, to avoid overfitting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Key Observation: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Classical models train in seconds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takes a few minutes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Practical trade-off between training speed and spatial feature extraction capability — discussed in Phase 6</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73520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515AE762-A698-F61E-AF90-44C034577436}"/>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EF27A331-D32F-B903-C271-A87FCA6B8708}"/>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7ABE0E72-72A2-A954-3CEC-E06C9914B9CD}"/>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04C4B4B-CC39-E921-9222-13858DA15FA1}"/>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E670C23A-52F9-1FAB-5B8F-41140A450707}"/>
              </a:ext>
            </a:extLst>
          </p:cNvPr>
          <p:cNvSpPr txBox="1"/>
          <p:nvPr/>
        </p:nvSpPr>
        <p:spPr>
          <a:xfrm>
            <a:off x="224589" y="802105"/>
            <a:ext cx="8069179" cy="4683333"/>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Evaluation Metrics Framework</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5a — Metrics Used &amp; Why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Metrics reported for all models: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Accuracy = correct predictions / total predictions (can be misleading under class imbalance)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Precision = TP / (TP + FP) — of predicted class X, how many were actually X</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Recall = TP / (TP + FN) — of actual class X, how many were correctly identified</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F1-Score = harmonic mean of precision &amp; recall — balances both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Macro-Average: treats all classes equally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Weighted-Average: accounts for class size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Confusion Matrix: 9x9 grid showing true vs predicted class counts — primary diagnostic tool</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Note: Macro-averaged F1 and confusion matrix used to evaluate rare classes (Donut, Near-Full) fairly, independent of class-size bias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9351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561348E8-5950-F5C1-1FB2-BBFB4782EBE3}"/>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0A029E40-9ED1-A330-35EF-B20A2079D5CC}"/>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29FB3D4E-E327-E332-10C3-8FE60C885905}"/>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5B70FD2-1992-60BD-75DB-02FFCC316860}"/>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F331E951-465F-5F70-8BB4-115CB28D8F1E}"/>
              </a:ext>
            </a:extLst>
          </p:cNvPr>
          <p:cNvSpPr txBox="1"/>
          <p:nvPr/>
        </p:nvSpPr>
        <p:spPr>
          <a:xfrm>
            <a:off x="266218" y="1162655"/>
            <a:ext cx="8542115" cy="4242187"/>
          </a:xfrm>
          <a:prstGeom prst="rect">
            <a:avLst/>
          </a:prstGeom>
          <a:noFill/>
        </p:spPr>
        <p:txBody>
          <a:bodyPr wrap="square">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Results: Classical ML Models Comparison</a:t>
            </a:r>
            <a:endParaRPr lang="en-IN" sz="24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5b — Tabular Branch Evaluation</a:t>
            </a:r>
          </a:p>
          <a:p>
            <a:pPr>
              <a:spcBef>
                <a:spcPts val="200"/>
              </a:spcBef>
              <a:spcAft>
                <a:spcPts val="200"/>
              </a:spcAft>
              <a:buNone/>
            </a:pPr>
            <a:r>
              <a:rPr lang="en-IN" sz="2000" dirty="0">
                <a:effectLst/>
                <a:latin typeface="Times New Roman" panose="02020603050405020304" pitchFamily="18" charset="0"/>
                <a:ea typeface="Times New Roman" panose="02020603050405020304" pitchFamily="18" charset="0"/>
              </a:rPr>
              <a:t>Comparison Table :</a:t>
            </a:r>
          </a:p>
          <a:p>
            <a:pPr>
              <a:spcBef>
                <a:spcPts val="200"/>
              </a:spcBef>
              <a:spcAft>
                <a:spcPts val="200"/>
              </a:spcAft>
              <a:buNone/>
            </a:pPr>
            <a:endParaRPr lang="en-IN" sz="2000" dirty="0">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2000" dirty="0">
              <a:effectLst/>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2000" dirty="0">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2000" dirty="0">
              <a:effectLst/>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2000" dirty="0">
              <a:effectLst/>
              <a:latin typeface="Times New Roman" panose="02020603050405020304" pitchFamily="18" charset="0"/>
              <a:ea typeface="Times New Roman" panose="02020603050405020304" pitchFamily="18" charset="0"/>
            </a:endParaRPr>
          </a:p>
          <a:p>
            <a:pPr>
              <a:spcBef>
                <a:spcPts val="400"/>
              </a:spcBef>
              <a:spcAft>
                <a:spcPts val="200"/>
              </a:spcAft>
              <a:buNone/>
            </a:pPr>
            <a:endParaRPr lang="en-IN" sz="10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dirty="0">
                <a:effectLst/>
                <a:latin typeface="Times New Roman" panose="02020603050405020304" pitchFamily="18" charset="0"/>
                <a:ea typeface="Times New Roman" panose="02020603050405020304" pitchFamily="18" charset="0"/>
              </a:rPr>
              <a:t>- Confusion matrix (heatmap) shown for best-performing classical model</a:t>
            </a:r>
          </a:p>
          <a:p>
            <a:pPr>
              <a:spcBef>
                <a:spcPts val="200"/>
              </a:spcBef>
              <a:spcAft>
                <a:spcPts val="200"/>
              </a:spcAft>
              <a:buNone/>
            </a:pPr>
            <a:r>
              <a:rPr lang="en-IN" dirty="0">
                <a:effectLst/>
                <a:latin typeface="Times New Roman" panose="02020603050405020304" pitchFamily="18" charset="0"/>
                <a:ea typeface="Times New Roman" panose="02020603050405020304" pitchFamily="18" charset="0"/>
              </a:rPr>
              <a:t>- Feature importance bar chart (Random Forest / </a:t>
            </a:r>
            <a:r>
              <a:rPr lang="en-IN" dirty="0" err="1">
                <a:effectLst/>
                <a:latin typeface="Times New Roman" panose="02020603050405020304" pitchFamily="18" charset="0"/>
                <a:ea typeface="Times New Roman" panose="02020603050405020304" pitchFamily="18" charset="0"/>
              </a:rPr>
              <a:t>XGBoost</a:t>
            </a:r>
            <a:r>
              <a:rPr lang="en-IN" dirty="0">
                <a:effectLst/>
                <a:latin typeface="Times New Roman" panose="02020603050405020304" pitchFamily="18" charset="0"/>
                <a:ea typeface="Times New Roman" panose="02020603050405020304" pitchFamily="18" charset="0"/>
              </a:rPr>
              <a:t>) — top features highlighted</a:t>
            </a:r>
          </a:p>
          <a:p>
            <a:pPr>
              <a:buNone/>
            </a:pPr>
            <a:r>
              <a:rPr lang="en-IN" dirty="0">
                <a:effectLst/>
                <a:latin typeface="Times New Roman" panose="02020603050405020304" pitchFamily="18" charset="0"/>
                <a:ea typeface="Times New Roman" panose="02020603050405020304" pitchFamily="18" charset="0"/>
              </a:rPr>
              <a:t>- Target achieved: Best classical model exceeds 85% accuracy threshold</a:t>
            </a:r>
            <a:endParaRPr lang="en-IN" dirty="0"/>
          </a:p>
        </p:txBody>
      </p:sp>
      <p:pic>
        <p:nvPicPr>
          <p:cNvPr id="9" name="Picture 8" descr="The diagram is a comparison table or matrix showcasing various metrics (Accuracy, Macro-Precision, Macro-Recall, Macro-F1) for different models.&#10;&#10;AI-generated content may be incorrect.">
            <a:extLst>
              <a:ext uri="{FF2B5EF4-FFF2-40B4-BE49-F238E27FC236}">
                <a16:creationId xmlns:a16="http://schemas.microsoft.com/office/drawing/2014/main" id="{138D5184-62FB-3F27-020F-240249A63082}"/>
              </a:ext>
            </a:extLst>
          </p:cNvPr>
          <p:cNvPicPr>
            <a:picLocks noChangeAspect="1"/>
          </p:cNvPicPr>
          <p:nvPr/>
        </p:nvPicPr>
        <p:blipFill>
          <a:blip r:embed="rId7"/>
          <a:stretch>
            <a:fillRect/>
          </a:stretch>
        </p:blipFill>
        <p:spPr>
          <a:xfrm>
            <a:off x="450702" y="2500677"/>
            <a:ext cx="7730772" cy="1856646"/>
          </a:xfrm>
          <a:prstGeom prst="rect">
            <a:avLst/>
          </a:prstGeom>
        </p:spPr>
      </p:pic>
    </p:spTree>
    <p:extLst>
      <p:ext uri="{BB962C8B-B14F-4D97-AF65-F5344CB8AC3E}">
        <p14:creationId xmlns:p14="http://schemas.microsoft.com/office/powerpoint/2010/main" val="241105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112436CF-C1D7-90F5-5EB0-A0A5E5193A50}"/>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99EF1606-91A2-20CF-659D-372111ABD03C}"/>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A93C6DC7-5D5F-65FD-9053-88D1D952C782}"/>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819E924-6AA4-0075-E4A6-793CBFCDF252}"/>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0281C067-17CC-33B7-3C36-1A325FEF4AB5}"/>
              </a:ext>
            </a:extLst>
          </p:cNvPr>
          <p:cNvSpPr txBox="1"/>
          <p:nvPr/>
        </p:nvSpPr>
        <p:spPr>
          <a:xfrm>
            <a:off x="160421" y="1502831"/>
            <a:ext cx="9071811" cy="3852337"/>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Results: CNN Wafer-Map Classification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5c — Image Branch Evaluation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test accuracy, precision, recall, F1 (insert actual run numbers)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Confusion matrix (heatmap) for CNN predictions on the test 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Common confusions to note: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Edge-Loc vs Edge-Ring — visually/spatially similar at 32x32 resolution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Donut vs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 ring vs blob shapes can overlap at low resolution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Side-by-side comparison: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vs best classical model — which branch performs better, and on which specific classes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stronger on: shape-defined classes (Donut, Scratch,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Edge-Ring)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Classical ML stronger on: globally-aggregated feature classes (Edge-Loc, Near-Full, Random)</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49260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2E340931-0372-E18F-44E1-8B04A45C0262}"/>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32AE2E4A-F1E7-C62E-1319-DF04C54120CC}"/>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D5966031-6773-B427-6719-527F0145DC5C}"/>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B792889-C76A-02BA-4CE7-66BB2503FA77}"/>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33049B26-7419-3FB6-6E0C-C89D017A446C}"/>
              </a:ext>
            </a:extLst>
          </p:cNvPr>
          <p:cNvSpPr txBox="1"/>
          <p:nvPr/>
        </p:nvSpPr>
        <p:spPr>
          <a:xfrm>
            <a:off x="224589" y="1074821"/>
            <a:ext cx="8069179" cy="4457631"/>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Key Insights &amp; Feature Importance Analysis</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6a — What the Results Tell Us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Both branches comfortably exceed the 85% accuracy target on the simulated dataset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Tabular metrology branch — strongest 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Classes driven by global statistics: </a:t>
            </a:r>
            <a:r>
              <a:rPr lang="en-IN" sz="1800" dirty="0" err="1">
                <a:effectLst/>
                <a:latin typeface="Times New Roman" panose="02020603050405020304" pitchFamily="18" charset="0"/>
                <a:ea typeface="Times New Roman" panose="02020603050405020304" pitchFamily="18" charset="0"/>
              </a:rPr>
              <a:t>defect_density</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edge_ratio</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Examples: Random, Near-Full, Edge-Ring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CNN / wafer-map branch — strongest 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Classes driven by spatial shape</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Examples: Donut, </a:t>
            </a:r>
            <a:r>
              <a:rPr lang="en-IN" sz="1800" dirty="0" err="1">
                <a:effectLst/>
                <a:latin typeface="Times New Roman" panose="02020603050405020304" pitchFamily="18" charset="0"/>
                <a:ea typeface="Times New Roman" panose="02020603050405020304" pitchFamily="18" charset="0"/>
              </a:rPr>
              <a:t>Center</a:t>
            </a:r>
            <a:r>
              <a:rPr lang="en-IN" sz="1800" dirty="0">
                <a:effectLst/>
                <a:latin typeface="Times New Roman" panose="02020603050405020304" pitchFamily="18" charset="0"/>
                <a:ea typeface="Times New Roman" panose="02020603050405020304" pitchFamily="18" charset="0"/>
              </a:rPr>
              <a:t>, Scratch</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Key Insight: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The two data modalities are complementary, not redundant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This validates the literature gap identified in Phase 1 — and motivates a hybrid/ensemble model as the natural next step</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2823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3BA2D144-5CF1-3465-3EA6-6F88409929C0}"/>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73B42B55-7EB0-F45F-03EF-1ED507FCD421}"/>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8B041FA8-C780-B5E2-EC62-4D407FEB6B36}"/>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EA92500-1536-686A-AA57-374ADBBD3D48}"/>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B5DC0D91-712E-88FF-03CE-BBC1D9927D2C}"/>
              </a:ext>
            </a:extLst>
          </p:cNvPr>
          <p:cNvSpPr txBox="1"/>
          <p:nvPr/>
        </p:nvSpPr>
        <p:spPr>
          <a:xfrm>
            <a:off x="224589" y="1275506"/>
            <a:ext cx="8069179" cy="4129336"/>
          </a:xfrm>
          <a:prstGeom prst="rect">
            <a:avLst/>
          </a:prstGeom>
          <a:noFill/>
        </p:spPr>
        <p:txBody>
          <a:bodyPr wrap="square" rtlCol="0">
            <a:spAutoFit/>
          </a:bodyPr>
          <a:lstStyle/>
          <a:p>
            <a:pPr>
              <a:spcBef>
                <a:spcPts val="600"/>
              </a:spcBef>
              <a:spcAft>
                <a:spcPts val="400"/>
              </a:spcAft>
              <a:buNone/>
            </a:pPr>
            <a:r>
              <a:rPr lang="en-IN" sz="2400" b="1">
                <a:effectLst/>
                <a:latin typeface="Times New Roman" panose="02020603050405020304" pitchFamily="18" charset="0"/>
                <a:ea typeface="Times New Roman" panose="02020603050405020304" pitchFamily="18" charset="0"/>
              </a:rPr>
              <a:t>Towards Deployment: A Simple Prediction Interface</a:t>
            </a:r>
            <a:endParaRPr lang="en-IN" sz="120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Phase 6b — Deployment Concept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Concept: A lightweight Streamlit web application for demonstration</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User options: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Upload or select a wafer-map image, OR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Input metrology feature values manually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App functionality:</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Loads the trained model (CNN via model.h5 or </a:t>
            </a:r>
            <a:r>
              <a:rPr lang="en-IN" sz="1800" dirty="0" err="1">
                <a:effectLst/>
                <a:latin typeface="Times New Roman" panose="02020603050405020304" pitchFamily="18" charset="0"/>
                <a:ea typeface="Times New Roman" panose="02020603050405020304" pitchFamily="18" charset="0"/>
              </a:rPr>
              <a:t>XGBoost</a:t>
            </a:r>
            <a:r>
              <a:rPr lang="en-IN" sz="1800" dirty="0">
                <a:effectLst/>
                <a:latin typeface="Times New Roman" panose="02020603050405020304" pitchFamily="18" charset="0"/>
                <a:ea typeface="Times New Roman" panose="02020603050405020304" pitchFamily="18" charset="0"/>
              </a:rPr>
              <a:t> via </a:t>
            </a:r>
            <a:r>
              <a:rPr lang="en-IN" sz="1800" dirty="0" err="1">
                <a:effectLst/>
                <a:latin typeface="Times New Roman" panose="02020603050405020304" pitchFamily="18" charset="0"/>
                <a:ea typeface="Times New Roman" panose="02020603050405020304" pitchFamily="18" charset="0"/>
              </a:rPr>
              <a:t>joblib</a:t>
            </a:r>
            <a:r>
              <a:rPr lang="en-IN" sz="18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Returns: predicted defect class + confidence score + (for CNN) a small heatmap of the input wafer map</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Workflow:</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Input &gt; Preprocessing (scaling / reshaping) &gt; Model Inference &gt; Display Result</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5997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64AE0C5A-436A-E75A-0A23-19BEB7FA96BE}"/>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86DC127E-D25F-BD17-8212-9576E2AF94CB}"/>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966DED7E-E086-3E23-22CD-4C02AB92F145}"/>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8AE50D7-EA94-70A5-BA45-06F8CB869146}"/>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82088800-3998-C9C9-56BA-ED8FD15FADE6}"/>
              </a:ext>
            </a:extLst>
          </p:cNvPr>
          <p:cNvSpPr txBox="1"/>
          <p:nvPr/>
        </p:nvSpPr>
        <p:spPr>
          <a:xfrm>
            <a:off x="328863" y="1767006"/>
            <a:ext cx="8069179" cy="2513509"/>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Limitations</a:t>
            </a:r>
          </a:p>
          <a:p>
            <a:pPr>
              <a:spcBef>
                <a:spcPts val="600"/>
              </a:spcBef>
              <a:spcAft>
                <a:spcPts val="400"/>
              </a:spcAft>
              <a:buNone/>
            </a:pPr>
            <a:r>
              <a:rPr lang="en-IN" sz="2000" dirty="0">
                <a:effectLst/>
                <a:latin typeface="Times New Roman" panose="02020603050405020304" pitchFamily="18" charset="0"/>
                <a:ea typeface="Times New Roman" panose="02020603050405020304" pitchFamily="18" charset="0"/>
              </a:rPr>
              <a:t>Phase 6c — Honest Assessment &amp; Next Steps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Limitations: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Simulated (not fab-collected) data — results are proof-of-concept, not production-validated</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- 32x32 image resolution is lower than real inspection tools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CNN architecture is intentionally simple for training speed</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20728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E7FFEF0A-A191-CBAA-F16E-CE3A6F12BF4A}"/>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4AA3CC0A-8908-EAA8-8E1A-F681AFB3F147}"/>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F04C45F8-3D4C-5511-6F33-C4C3667D3B2E}"/>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F1E2B25-80B5-B855-AA81-1579145676D1}"/>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962E4F9E-4D2B-C62A-C862-F96281EEF184}"/>
              </a:ext>
            </a:extLst>
          </p:cNvPr>
          <p:cNvSpPr txBox="1"/>
          <p:nvPr/>
        </p:nvSpPr>
        <p:spPr>
          <a:xfrm>
            <a:off x="344904" y="1795663"/>
            <a:ext cx="8069179" cy="2918748"/>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Future Scope</a:t>
            </a:r>
            <a:endParaRPr lang="en-IN" sz="2400" dirty="0">
              <a:effectLst/>
              <a:latin typeface="Times New Roman" panose="02020603050405020304" pitchFamily="18" charset="0"/>
              <a:ea typeface="Times New Roman" panose="02020603050405020304" pitchFamily="18" charset="0"/>
            </a:endParaRPr>
          </a:p>
          <a:p>
            <a:pPr>
              <a:spcBef>
                <a:spcPts val="200"/>
              </a:spcBef>
              <a:spcAft>
                <a:spcPts val="200"/>
              </a:spcAft>
              <a:buNone/>
            </a:pP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1. Validate pipeline on the real WM-811K public dataset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2. Explore deeper architectures (</a:t>
            </a:r>
            <a:r>
              <a:rPr lang="en-IN" sz="1800" dirty="0" err="1">
                <a:effectLst/>
                <a:latin typeface="Times New Roman" panose="02020603050405020304" pitchFamily="18" charset="0"/>
                <a:ea typeface="Times New Roman" panose="02020603050405020304" pitchFamily="18" charset="0"/>
              </a:rPr>
              <a:t>ResNet</a:t>
            </a:r>
            <a:r>
              <a:rPr lang="en-IN" sz="1800" dirty="0">
                <a:effectLst/>
                <a:latin typeface="Times New Roman" panose="02020603050405020304" pitchFamily="18" charset="0"/>
                <a:ea typeface="Times New Roman" panose="02020603050405020304" pitchFamily="18" charset="0"/>
              </a:rPr>
              <a:t>-style blocks, transfer learning)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3. Build a true hybrid model: concatenate CNN-extracted features with tabular metrology features before the final classifier</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4. Integrate with SPC dashboards (as covered in the JMP/SPC session) for real-time root-cause flagging</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5. Edge deployment on fab-floor inspection systems for real-time inline classification</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01178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53FF430E-1806-C4C8-81A3-2992794D9EA9}"/>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2D93DB6A-E704-583F-FB13-6293201915C1}"/>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ED6EA532-B238-0B6D-A11D-92A4F45A59E2}"/>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02C5D1E-1922-C864-9412-CE8477408FDB}"/>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1B9F4C53-964E-7C78-F758-BD84506715BC}"/>
              </a:ext>
            </a:extLst>
          </p:cNvPr>
          <p:cNvSpPr txBox="1"/>
          <p:nvPr/>
        </p:nvSpPr>
        <p:spPr>
          <a:xfrm>
            <a:off x="304799" y="1203692"/>
            <a:ext cx="8069179" cy="4201150"/>
          </a:xfrm>
          <a:prstGeom prst="rect">
            <a:avLst/>
          </a:prstGeom>
          <a:noFill/>
        </p:spPr>
        <p:txBody>
          <a:bodyPr wrap="square" rtlCol="0">
            <a:spAutoFit/>
          </a:bodyPr>
          <a:lstStyle/>
          <a:p>
            <a:pPr>
              <a:spcBef>
                <a:spcPts val="600"/>
              </a:spcBef>
              <a:spcAft>
                <a:spcPts val="400"/>
              </a:spcAft>
              <a:buNone/>
            </a:pPr>
            <a:r>
              <a:rPr lang="en-IN" sz="2400" b="1" dirty="0">
                <a:effectLst/>
                <a:latin typeface="Times New Roman" panose="02020603050405020304" pitchFamily="18" charset="0"/>
                <a:ea typeface="Times New Roman" panose="02020603050405020304" pitchFamily="18" charset="0"/>
              </a:rPr>
              <a:t>Conclusion</a:t>
            </a:r>
            <a:endParaRPr lang="en-IN" sz="1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000" dirty="0">
                <a:effectLst/>
                <a:latin typeface="Times New Roman" panose="02020603050405020304" pitchFamily="18" charset="0"/>
                <a:ea typeface="Times New Roman" panose="02020603050405020304" pitchFamily="18" charset="0"/>
              </a:rPr>
              <a:t>Summary of Findings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Built and validated an end-to-end ML pipeline for semiconductor defect-pattern classification on a realistically-simulated 9-class dataset</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Compared classical ML (Random Forest, SVM, </a:t>
            </a:r>
            <a:r>
              <a:rPr lang="en-IN" sz="1800" dirty="0" err="1">
                <a:effectLst/>
                <a:latin typeface="Times New Roman" panose="02020603050405020304" pitchFamily="18" charset="0"/>
                <a:ea typeface="Times New Roman" panose="02020603050405020304" pitchFamily="18" charset="0"/>
              </a:rPr>
              <a:t>XGBoost</a:t>
            </a:r>
            <a:r>
              <a:rPr lang="en-IN" sz="1800" dirty="0">
                <a:effectLst/>
                <a:latin typeface="Times New Roman" panose="02020603050405020304" pitchFamily="18" charset="0"/>
                <a:ea typeface="Times New Roman" panose="02020603050405020304" pitchFamily="18" charset="0"/>
              </a:rPr>
              <a:t>, ANN) on tabular metrology features vs CNN on wafer-map images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Both branches exceeded the 85% accuracy target; results highlight complementary strengths of the two data modalities</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Pipeline (data generation &gt; preprocessing &gt; EDA &gt; modelling &gt; evaluation) is directly transferable to real fab datasets such as WM-811K</a:t>
            </a:r>
            <a:endParaRPr lang="en-IN" sz="12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1800" dirty="0">
                <a:effectLst/>
                <a:latin typeface="Times New Roman" panose="02020603050405020304" pitchFamily="18" charset="0"/>
                <a:ea typeface="Times New Roman" panose="02020603050405020304" pitchFamily="18" charset="0"/>
              </a:rPr>
              <a:t>- Reinforced concepts from across the </a:t>
            </a:r>
            <a:r>
              <a:rPr lang="en-IN" sz="1800" dirty="0" err="1">
                <a:effectLst/>
                <a:latin typeface="Times New Roman" panose="02020603050405020304" pitchFamily="18" charset="0"/>
                <a:ea typeface="Times New Roman" panose="02020603050405020304" pitchFamily="18" charset="0"/>
              </a:rPr>
              <a:t>MoTA</a:t>
            </a:r>
            <a:r>
              <a:rPr lang="en-IN" sz="1800" dirty="0">
                <a:effectLst/>
                <a:latin typeface="Times New Roman" panose="02020603050405020304" pitchFamily="18" charset="0"/>
                <a:ea typeface="Times New Roman" panose="02020603050405020304" pitchFamily="18" charset="0"/>
              </a:rPr>
              <a:t> program — process steps (lithography, etch, deposition, CMP) as root causes of defect signatures, and SPC as the bridge to ML-based diagnostics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36531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F3F6231F-EE8E-F0AA-8293-3A2ECEDED25F}"/>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A428514D-F84E-ECCE-0347-4A3161178371}"/>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62520C43-F0A3-31EE-B30D-044DA9DDA3D8}"/>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914DBFD-B9E2-5A7B-0A9A-F4D9FA29A4F0}"/>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0880D393-D8DE-48BC-5F18-0C8DEC4D1722}"/>
              </a:ext>
            </a:extLst>
          </p:cNvPr>
          <p:cNvSpPr txBox="1"/>
          <p:nvPr/>
        </p:nvSpPr>
        <p:spPr>
          <a:xfrm>
            <a:off x="220580" y="1268834"/>
            <a:ext cx="8686799" cy="4324261"/>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References (1)</a:t>
            </a:r>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Cheung, S. K., &amp; Huang, J. S. (2023).</a:t>
            </a:r>
            <a:r>
              <a:rPr lang="en-IN" sz="1500" dirty="0">
                <a:latin typeface="Times New Roman" panose="02020603050405020304" pitchFamily="18" charset="0"/>
                <a:cs typeface="Times New Roman" panose="02020603050405020304" pitchFamily="18" charset="0"/>
              </a:rPr>
              <a:t> Wafer map failure pattern recognition using ensemble learning: A review of state-of-the-art techniques. </a:t>
            </a:r>
            <a:r>
              <a:rPr lang="en-IN" sz="1500" i="1" dirty="0">
                <a:latin typeface="Times New Roman" panose="02020603050405020304" pitchFamily="18" charset="0"/>
                <a:cs typeface="Times New Roman" panose="02020603050405020304" pitchFamily="18" charset="0"/>
              </a:rPr>
              <a:t>Journal of Semiconductor Technology and Science, 23</a:t>
            </a:r>
            <a:r>
              <a:rPr lang="en-IN" sz="1500" dirty="0">
                <a:latin typeface="Times New Roman" panose="02020603050405020304" pitchFamily="18" charset="0"/>
                <a:cs typeface="Times New Roman" panose="02020603050405020304" pitchFamily="18" charset="0"/>
              </a:rPr>
              <a:t>(4), 215–230. </a:t>
            </a:r>
            <a:r>
              <a:rPr lang="en-IN" sz="1500" dirty="0">
                <a:latin typeface="Times New Roman" panose="02020603050405020304" pitchFamily="18" charset="0"/>
                <a:cs typeface="Times New Roman" panose="02020603050405020304" pitchFamily="18" charset="0"/>
                <a:hlinkClick r:id="rId7"/>
              </a:rPr>
              <a:t>https://doi.org/10.5573/JSTS.2023.23.4.215</a:t>
            </a:r>
            <a:endParaRPr lang="en-IN" sz="1500"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Chu, C. H., Chen, C. C., &amp; Chen, J. L. (2021).</a:t>
            </a:r>
            <a:r>
              <a:rPr lang="en-IN" sz="1500" dirty="0">
                <a:latin typeface="Times New Roman" panose="02020603050405020304" pitchFamily="18" charset="0"/>
                <a:cs typeface="Times New Roman" panose="02020603050405020304" pitchFamily="18" charset="0"/>
              </a:rPr>
              <a:t> Hybrid deep learning for semiconductor wafer defect classification using spatial-metrology feature fusion. </a:t>
            </a:r>
            <a:r>
              <a:rPr lang="en-IN" sz="1500" i="1" dirty="0">
                <a:latin typeface="Times New Roman" panose="02020603050405020304" pitchFamily="18" charset="0"/>
                <a:cs typeface="Times New Roman" panose="02020603050405020304" pitchFamily="18" charset="0"/>
              </a:rPr>
              <a:t>IEEE Transactions on Semiconductor Manufacturing, 34</a:t>
            </a:r>
            <a:r>
              <a:rPr lang="en-IN" sz="1500" dirty="0">
                <a:latin typeface="Times New Roman" panose="02020603050405020304" pitchFamily="18" charset="0"/>
                <a:cs typeface="Times New Roman" panose="02020603050405020304" pitchFamily="18" charset="0"/>
              </a:rPr>
              <a:t>(3), 320–331. </a:t>
            </a:r>
            <a:r>
              <a:rPr lang="en-IN" sz="1500" dirty="0">
                <a:latin typeface="Times New Roman" panose="02020603050405020304" pitchFamily="18" charset="0"/>
                <a:cs typeface="Times New Roman" panose="02020603050405020304" pitchFamily="18" charset="0"/>
                <a:hlinkClick r:id="rId8"/>
              </a:rPr>
              <a:t>https://doi.org/10.1109/TSM.2021.3078421</a:t>
            </a:r>
            <a:endParaRPr lang="en-IN" sz="1500"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Hsu, C. Y., &amp; Chen, Y. L. (2020).</a:t>
            </a:r>
            <a:r>
              <a:rPr lang="en-IN" sz="1500" dirty="0">
                <a:latin typeface="Times New Roman" panose="02020603050405020304" pitchFamily="18" charset="0"/>
                <a:cs typeface="Times New Roman" panose="02020603050405020304" pitchFamily="18" charset="0"/>
              </a:rPr>
              <a:t> Deep learning-based classification of wafer map patterns using convolutional neural networks. </a:t>
            </a:r>
            <a:r>
              <a:rPr lang="en-IN" sz="1500" i="1" dirty="0">
                <a:latin typeface="Times New Roman" panose="02020603050405020304" pitchFamily="18" charset="0"/>
                <a:cs typeface="Times New Roman" panose="02020603050405020304" pitchFamily="18" charset="0"/>
              </a:rPr>
              <a:t>Journal of Intelligent Manufacturing, 31</a:t>
            </a:r>
            <a:r>
              <a:rPr lang="en-IN" sz="1500" dirty="0">
                <a:latin typeface="Times New Roman" panose="02020603050405020304" pitchFamily="18" charset="0"/>
                <a:cs typeface="Times New Roman" panose="02020603050405020304" pitchFamily="18" charset="0"/>
              </a:rPr>
              <a:t>(8), 1983–1996. </a:t>
            </a:r>
            <a:r>
              <a:rPr lang="en-IN" sz="1500" dirty="0">
                <a:latin typeface="Times New Roman" panose="02020603050405020304" pitchFamily="18" charset="0"/>
                <a:cs typeface="Times New Roman" panose="02020603050405020304" pitchFamily="18" charset="0"/>
                <a:hlinkClick r:id="rId9"/>
              </a:rPr>
              <a:t>https://doi.org/10.1007/s10845-020-01557-w</a:t>
            </a:r>
            <a:endParaRPr lang="en-IN" sz="1500"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Kuo, C. F., &amp; Chang, H. C. (2022).</a:t>
            </a:r>
            <a:r>
              <a:rPr lang="en-IN" sz="1500" dirty="0">
                <a:latin typeface="Times New Roman" panose="02020603050405020304" pitchFamily="18" charset="0"/>
                <a:cs typeface="Times New Roman" panose="02020603050405020304" pitchFamily="18" charset="0"/>
              </a:rPr>
              <a:t> Automated wafer defect classification using a combination of hand-crafted features and deep learning. </a:t>
            </a:r>
            <a:r>
              <a:rPr lang="en-IN" sz="1500" i="1" dirty="0">
                <a:latin typeface="Times New Roman" panose="02020603050405020304" pitchFamily="18" charset="0"/>
                <a:cs typeface="Times New Roman" panose="02020603050405020304" pitchFamily="18" charset="0"/>
              </a:rPr>
              <a:t>Expert Systems with Applications, 191</a:t>
            </a:r>
            <a:r>
              <a:rPr lang="en-IN" sz="1500" dirty="0">
                <a:latin typeface="Times New Roman" panose="02020603050405020304" pitchFamily="18" charset="0"/>
                <a:cs typeface="Times New Roman" panose="02020603050405020304" pitchFamily="18" charset="0"/>
              </a:rPr>
              <a:t>, 116245. </a:t>
            </a:r>
            <a:r>
              <a:rPr lang="en-IN" sz="1500" dirty="0">
                <a:latin typeface="Times New Roman" panose="02020603050405020304" pitchFamily="18" charset="0"/>
                <a:cs typeface="Times New Roman" panose="02020603050405020304" pitchFamily="18" charset="0"/>
                <a:hlinkClick r:id="rId10"/>
              </a:rPr>
              <a:t>https://doi.org/10.1016/j.eswa.2021.116245</a:t>
            </a:r>
            <a:endParaRPr lang="en-IN" sz="1500"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Lee, J. G., &amp; Park, S. H. (2021).</a:t>
            </a:r>
            <a:r>
              <a:rPr lang="en-IN" sz="1500" dirty="0">
                <a:latin typeface="Times New Roman" panose="02020603050405020304" pitchFamily="18" charset="0"/>
                <a:cs typeface="Times New Roman" panose="02020603050405020304" pitchFamily="18" charset="0"/>
              </a:rPr>
              <a:t> Comparative analysis of machine learning classifiers for semiconductor process-metrology data. </a:t>
            </a:r>
            <a:r>
              <a:rPr lang="en-IN" sz="1500" i="1" dirty="0">
                <a:latin typeface="Times New Roman" panose="02020603050405020304" pitchFamily="18" charset="0"/>
                <a:cs typeface="Times New Roman" panose="02020603050405020304" pitchFamily="18" charset="0"/>
              </a:rPr>
              <a:t>IEEE Access, 9</a:t>
            </a:r>
            <a:r>
              <a:rPr lang="en-IN" sz="1500" dirty="0">
                <a:latin typeface="Times New Roman" panose="02020603050405020304" pitchFamily="18" charset="0"/>
                <a:cs typeface="Times New Roman" panose="02020603050405020304" pitchFamily="18" charset="0"/>
              </a:rPr>
              <a:t>, 7845–7859. </a:t>
            </a:r>
            <a:r>
              <a:rPr lang="en-IN" sz="1500" dirty="0">
                <a:latin typeface="Times New Roman" panose="02020603050405020304" pitchFamily="18" charset="0"/>
                <a:cs typeface="Times New Roman" panose="02020603050405020304" pitchFamily="18" charset="0"/>
                <a:hlinkClick r:id="rId11"/>
              </a:rPr>
              <a:t>https://doi.org/10.1109/ACCESS.2021.3050215</a:t>
            </a:r>
            <a:endParaRPr lang="en-IN" sz="1500" dirty="0">
              <a:latin typeface="Times New Roman" panose="02020603050405020304" pitchFamily="18" charset="0"/>
              <a:cs typeface="Times New Roman" panose="02020603050405020304" pitchFamily="18" charset="0"/>
            </a:endParaRPr>
          </a:p>
          <a:p>
            <a:pPr>
              <a:spcBef>
                <a:spcPts val="600"/>
              </a:spcBef>
              <a:spcAft>
                <a:spcPts val="400"/>
              </a:spcAft>
              <a:buNone/>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4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A883861F-4D40-7C9C-5898-A5ED70A0EB1C}"/>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11796251-79CB-2CA8-A038-CB08A9C6EA40}"/>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454DE297-EC0E-F0E7-C178-AA76063C088E}"/>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6A9CBEE-279F-736A-15B4-8D2F05A90F82}"/>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126F749-80EB-14B8-CF44-76D6D2B9EBA4}"/>
              </a:ext>
            </a:extLst>
          </p:cNvPr>
          <p:cNvSpPr txBox="1"/>
          <p:nvPr/>
        </p:nvSpPr>
        <p:spPr>
          <a:xfrm>
            <a:off x="220580" y="1268834"/>
            <a:ext cx="8686799" cy="453970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References (2)</a:t>
            </a:r>
          </a:p>
          <a:p>
            <a:endParaRPr lang="en-IN" sz="24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Lin, S. H., &amp; Chi, H. H. (2023).</a:t>
            </a:r>
            <a:r>
              <a:rPr lang="en-IN" sz="1600" dirty="0">
                <a:latin typeface="Times New Roman" panose="02020603050405020304" pitchFamily="18" charset="0"/>
                <a:cs typeface="Times New Roman" panose="02020603050405020304" pitchFamily="18" charset="0"/>
              </a:rPr>
              <a:t> Wafer-level MEMS packaging defect analysis using supervised learning models: A practical approach. </a:t>
            </a:r>
            <a:r>
              <a:rPr lang="en-IN" sz="1600" i="1" dirty="0">
                <a:latin typeface="Times New Roman" panose="02020603050405020304" pitchFamily="18" charset="0"/>
                <a:cs typeface="Times New Roman" panose="02020603050405020304" pitchFamily="18" charset="0"/>
              </a:rPr>
              <a:t>Microelectronic Engineering, 275</a:t>
            </a:r>
            <a:r>
              <a:rPr lang="en-IN" sz="1600" dirty="0">
                <a:latin typeface="Times New Roman" panose="02020603050405020304" pitchFamily="18" charset="0"/>
                <a:cs typeface="Times New Roman" panose="02020603050405020304" pitchFamily="18" charset="0"/>
              </a:rPr>
              <a:t>, 111985. </a:t>
            </a:r>
            <a:r>
              <a:rPr lang="en-IN" sz="1600" dirty="0">
                <a:latin typeface="Times New Roman" panose="02020603050405020304" pitchFamily="18" charset="0"/>
                <a:cs typeface="Times New Roman" panose="02020603050405020304" pitchFamily="18" charset="0"/>
                <a:hlinkClick r:id="rId7"/>
              </a:rPr>
              <a:t>https://doi.org/10.1016/j.mee.2023.111985</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Liu, C., &amp; Zhang, Y. (2022).</a:t>
            </a:r>
            <a:r>
              <a:rPr lang="en-IN" sz="1600" dirty="0">
                <a:latin typeface="Times New Roman" panose="02020603050405020304" pitchFamily="18" charset="0"/>
                <a:cs typeface="Times New Roman" panose="02020603050405020304" pitchFamily="18" charset="0"/>
              </a:rPr>
              <a:t> Statistical process control and machine learning integration in semiconductor manufacturing: A review. </a:t>
            </a:r>
            <a:r>
              <a:rPr lang="en-IN" sz="1600" i="1" dirty="0">
                <a:latin typeface="Times New Roman" panose="02020603050405020304" pitchFamily="18" charset="0"/>
                <a:cs typeface="Times New Roman" panose="02020603050405020304" pitchFamily="18" charset="0"/>
              </a:rPr>
              <a:t>Journal of Process Control, 115</a:t>
            </a:r>
            <a:r>
              <a:rPr lang="en-IN" sz="1600" dirty="0">
                <a:latin typeface="Times New Roman" panose="02020603050405020304" pitchFamily="18" charset="0"/>
                <a:cs typeface="Times New Roman" panose="02020603050405020304" pitchFamily="18" charset="0"/>
              </a:rPr>
              <a:t>, 22–38. </a:t>
            </a:r>
            <a:r>
              <a:rPr lang="en-IN" sz="1600" dirty="0">
                <a:latin typeface="Times New Roman" panose="02020603050405020304" pitchFamily="18" charset="0"/>
                <a:cs typeface="Times New Roman" panose="02020603050405020304" pitchFamily="18" charset="0"/>
                <a:hlinkClick r:id="rId8"/>
              </a:rPr>
              <a:t>https://doi.org/10.1016/j.jprocont.2022.05.004</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Nguyen, T. T., &amp; Kim, S. (2022).</a:t>
            </a:r>
            <a:r>
              <a:rPr lang="en-IN" sz="1600" dirty="0">
                <a:latin typeface="Times New Roman" panose="02020603050405020304" pitchFamily="18" charset="0"/>
                <a:cs typeface="Times New Roman" panose="02020603050405020304" pitchFamily="18" charset="0"/>
              </a:rPr>
              <a:t> Data augmentation techniques for wafer map pattern recognition in small-dataset environments. </a:t>
            </a:r>
            <a:r>
              <a:rPr lang="en-IN" sz="1600" i="1" dirty="0">
                <a:latin typeface="Times New Roman" panose="02020603050405020304" pitchFamily="18" charset="0"/>
                <a:cs typeface="Times New Roman" panose="02020603050405020304" pitchFamily="18" charset="0"/>
              </a:rPr>
              <a:t>Applied Sciences, 12</a:t>
            </a:r>
            <a:r>
              <a:rPr lang="en-IN" sz="1600" dirty="0">
                <a:latin typeface="Times New Roman" panose="02020603050405020304" pitchFamily="18" charset="0"/>
                <a:cs typeface="Times New Roman" panose="02020603050405020304" pitchFamily="18" charset="0"/>
              </a:rPr>
              <a:t>(9), 4250. </a:t>
            </a:r>
            <a:r>
              <a:rPr lang="en-IN" sz="1600" dirty="0">
                <a:latin typeface="Times New Roman" panose="02020603050405020304" pitchFamily="18" charset="0"/>
                <a:cs typeface="Times New Roman" panose="02020603050405020304" pitchFamily="18" charset="0"/>
                <a:hlinkClick r:id="rId9"/>
              </a:rPr>
              <a:t>https://doi.org/10.3390/app12094250</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Wang, Y., &amp; Gao, R. X. (2021).</a:t>
            </a:r>
            <a:r>
              <a:rPr lang="en-IN" sz="1600" dirty="0">
                <a:latin typeface="Times New Roman" panose="02020603050405020304" pitchFamily="18" charset="0"/>
                <a:cs typeface="Times New Roman" panose="02020603050405020304" pitchFamily="18" charset="0"/>
              </a:rPr>
              <a:t> Machine learning for semiconductor manufacturing: A survey of opportunities and challenges. </a:t>
            </a:r>
            <a:r>
              <a:rPr lang="en-IN" sz="1600" i="1" dirty="0">
                <a:latin typeface="Times New Roman" panose="02020603050405020304" pitchFamily="18" charset="0"/>
                <a:cs typeface="Times New Roman" panose="02020603050405020304" pitchFamily="18" charset="0"/>
              </a:rPr>
              <a:t>IEEE Transactions on Automation Science and Engineering, 18</a:t>
            </a:r>
            <a:r>
              <a:rPr lang="en-IN" sz="1600" dirty="0">
                <a:latin typeface="Times New Roman" panose="02020603050405020304" pitchFamily="18" charset="0"/>
                <a:cs typeface="Times New Roman" panose="02020603050405020304" pitchFamily="18" charset="0"/>
              </a:rPr>
              <a:t>(4), 1645–1663. </a:t>
            </a:r>
            <a:r>
              <a:rPr lang="en-IN" sz="1600" dirty="0">
                <a:latin typeface="Times New Roman" panose="02020603050405020304" pitchFamily="18" charset="0"/>
                <a:cs typeface="Times New Roman" panose="02020603050405020304" pitchFamily="18" charset="0"/>
                <a:hlinkClick r:id="rId10"/>
              </a:rPr>
              <a:t>https://doi.org/10.1109/TASE.2021.3090870</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Zhang, Q., &amp; Wang, H. (2024).</a:t>
            </a:r>
            <a:r>
              <a:rPr lang="en-IN" sz="1600" dirty="0">
                <a:latin typeface="Times New Roman" panose="02020603050405020304" pitchFamily="18" charset="0"/>
                <a:cs typeface="Times New Roman" panose="02020603050405020304" pitchFamily="18" charset="0"/>
              </a:rPr>
              <a:t> Feature extraction for wafer defect pattern classification: An empirical study on the WM-811K dataset. </a:t>
            </a:r>
            <a:r>
              <a:rPr lang="en-IN" sz="1600" i="1" dirty="0">
                <a:latin typeface="Times New Roman" panose="02020603050405020304" pitchFamily="18" charset="0"/>
                <a:cs typeface="Times New Roman" panose="02020603050405020304" pitchFamily="18" charset="0"/>
              </a:rPr>
              <a:t>Journal of Manufacturing Systems, 72</a:t>
            </a:r>
            <a:r>
              <a:rPr lang="en-IN" sz="1600" dirty="0">
                <a:latin typeface="Times New Roman" panose="02020603050405020304" pitchFamily="18" charset="0"/>
                <a:cs typeface="Times New Roman" panose="02020603050405020304" pitchFamily="18" charset="0"/>
              </a:rPr>
              <a:t>, 45–60. </a:t>
            </a:r>
            <a:r>
              <a:rPr lang="en-IN" sz="1600" dirty="0">
                <a:latin typeface="Times New Roman" panose="02020603050405020304" pitchFamily="18" charset="0"/>
                <a:cs typeface="Times New Roman" panose="02020603050405020304" pitchFamily="18" charset="0"/>
                <a:hlinkClick r:id="rId11"/>
              </a:rPr>
              <a:t>https://doi.org/10.1016/j.jmsy.2024.01.012</a:t>
            </a:r>
            <a:endParaRPr lang="en-IN" sz="1600" dirty="0">
              <a:latin typeface="Times New Roman" panose="02020603050405020304" pitchFamily="18" charset="0"/>
              <a:cs typeface="Times New Roman" panose="02020603050405020304" pitchFamily="18" charset="0"/>
            </a:endParaRPr>
          </a:p>
          <a:p>
            <a:pPr>
              <a:spcBef>
                <a:spcPts val="600"/>
              </a:spcBef>
              <a:spcAft>
                <a:spcPts val="400"/>
              </a:spcAft>
              <a:buNone/>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6147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44766AE5-5DE3-C14B-F145-EC60FD8AE3E8}"/>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2C30E373-F781-2B15-2CFA-240F79BFB36B}"/>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32625AA8-9AD3-6790-6B71-FDB1B17A978B}"/>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1642A91-C68F-4856-D1D1-66432F84108B}"/>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6" name="Picture 5" descr="The image displays a data table with 5400 rows and 16 columns, and a visual representation of a 2700x32x32 wafer map, with a bar chart detailing the distribution of various defect classes.&#10;&#10;AI-generated content may be incorrect.">
            <a:extLst>
              <a:ext uri="{FF2B5EF4-FFF2-40B4-BE49-F238E27FC236}">
                <a16:creationId xmlns:a16="http://schemas.microsoft.com/office/drawing/2014/main" id="{E3F10D2E-3249-9FA5-A53A-6FD983245ED0}"/>
              </a:ext>
            </a:extLst>
          </p:cNvPr>
          <p:cNvPicPr>
            <a:picLocks noChangeAspect="1"/>
          </p:cNvPicPr>
          <p:nvPr/>
        </p:nvPicPr>
        <p:blipFill>
          <a:blip r:embed="rId7"/>
          <a:stretch>
            <a:fillRect/>
          </a:stretch>
        </p:blipFill>
        <p:spPr>
          <a:xfrm>
            <a:off x="2959768" y="1098482"/>
            <a:ext cx="3074069" cy="1909011"/>
          </a:xfrm>
          <a:prstGeom prst="rect">
            <a:avLst/>
          </a:prstGeom>
        </p:spPr>
      </p:pic>
      <p:pic>
        <p:nvPicPr>
          <p:cNvPr id="8" name="Picture 7" descr="Norma.&#10;&#10;AI-generated content may be incorrect.">
            <a:extLst>
              <a:ext uri="{FF2B5EF4-FFF2-40B4-BE49-F238E27FC236}">
                <a16:creationId xmlns:a16="http://schemas.microsoft.com/office/drawing/2014/main" id="{C8B3A51C-D810-A538-F790-141CD40C1A4C}"/>
              </a:ext>
            </a:extLst>
          </p:cNvPr>
          <p:cNvPicPr>
            <a:picLocks noChangeAspect="1"/>
          </p:cNvPicPr>
          <p:nvPr/>
        </p:nvPicPr>
        <p:blipFill>
          <a:blip r:embed="rId8"/>
          <a:stretch>
            <a:fillRect/>
          </a:stretch>
        </p:blipFill>
        <p:spPr>
          <a:xfrm>
            <a:off x="224589" y="3150669"/>
            <a:ext cx="8823158" cy="1909011"/>
          </a:xfrm>
          <a:prstGeom prst="rect">
            <a:avLst/>
          </a:prstGeom>
        </p:spPr>
      </p:pic>
    </p:spTree>
    <p:extLst>
      <p:ext uri="{BB962C8B-B14F-4D97-AF65-F5344CB8AC3E}">
        <p14:creationId xmlns:p14="http://schemas.microsoft.com/office/powerpoint/2010/main" val="447624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B91C00ED-77C8-7146-1A93-3C3CB2919943}"/>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497C9763-0EA9-4A72-2056-AE2BED27DB80}"/>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BFD0B067-4538-CB29-FA0A-58587F28A0DB}"/>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FBBEC73-A226-C590-6BE0-ABAE11F2B2FF}"/>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8" name="Picture 7" descr="The image is a bar chart displaying different defect classes (Normal, DOO, Center, Donut, Edge-Loc, etc.) and their corresponding values, with some additional statistics such as 'defect_density' and 'overlay_error_nm'.&#10;&#10;AI-generated content may be incorrect.">
            <a:extLst>
              <a:ext uri="{FF2B5EF4-FFF2-40B4-BE49-F238E27FC236}">
                <a16:creationId xmlns:a16="http://schemas.microsoft.com/office/drawing/2014/main" id="{04C6614C-A420-DFE8-CE2A-CC756FBE8F96}"/>
              </a:ext>
            </a:extLst>
          </p:cNvPr>
          <p:cNvPicPr>
            <a:picLocks noChangeAspect="1"/>
          </p:cNvPicPr>
          <p:nvPr/>
        </p:nvPicPr>
        <p:blipFill>
          <a:blip r:embed="rId7"/>
          <a:stretch>
            <a:fillRect/>
          </a:stretch>
        </p:blipFill>
        <p:spPr>
          <a:xfrm>
            <a:off x="597363" y="3292307"/>
            <a:ext cx="7782821" cy="2150305"/>
          </a:xfrm>
          <a:prstGeom prst="rect">
            <a:avLst/>
          </a:prstGeom>
        </p:spPr>
      </p:pic>
      <p:pic>
        <p:nvPicPr>
          <p:cNvPr id="16" name="Picture 15">
            <a:extLst>
              <a:ext uri="{FF2B5EF4-FFF2-40B4-BE49-F238E27FC236}">
                <a16:creationId xmlns:a16="http://schemas.microsoft.com/office/drawing/2014/main" id="{38440D66-DB4B-1697-3D98-48BB39B7D00D}"/>
              </a:ext>
            </a:extLst>
          </p:cNvPr>
          <p:cNvPicPr>
            <a:picLocks noChangeAspect="1"/>
          </p:cNvPicPr>
          <p:nvPr/>
        </p:nvPicPr>
        <p:blipFill>
          <a:blip r:embed="rId8"/>
          <a:stretch>
            <a:fillRect/>
          </a:stretch>
        </p:blipFill>
        <p:spPr>
          <a:xfrm>
            <a:off x="4660872" y="233350"/>
            <a:ext cx="3719312" cy="2975071"/>
          </a:xfrm>
          <a:prstGeom prst="rect">
            <a:avLst/>
          </a:prstGeom>
        </p:spPr>
      </p:pic>
      <p:pic>
        <p:nvPicPr>
          <p:cNvPr id="17" name="Picture 16">
            <a:extLst>
              <a:ext uri="{FF2B5EF4-FFF2-40B4-BE49-F238E27FC236}">
                <a16:creationId xmlns:a16="http://schemas.microsoft.com/office/drawing/2014/main" id="{C5D6F95C-905A-731D-C1FA-BFF4211B42C4}"/>
              </a:ext>
            </a:extLst>
          </p:cNvPr>
          <p:cNvPicPr>
            <a:picLocks noChangeAspect="1"/>
          </p:cNvPicPr>
          <p:nvPr/>
        </p:nvPicPr>
        <p:blipFill>
          <a:blip r:embed="rId9"/>
          <a:stretch>
            <a:fillRect/>
          </a:stretch>
        </p:blipFill>
        <p:spPr>
          <a:xfrm>
            <a:off x="597363" y="243788"/>
            <a:ext cx="3885767" cy="2975071"/>
          </a:xfrm>
          <a:prstGeom prst="rect">
            <a:avLst/>
          </a:prstGeom>
        </p:spPr>
      </p:pic>
    </p:spTree>
    <p:extLst>
      <p:ext uri="{BB962C8B-B14F-4D97-AF65-F5344CB8AC3E}">
        <p14:creationId xmlns:p14="http://schemas.microsoft.com/office/powerpoint/2010/main" val="3007636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F8110E64-4B91-9775-E120-D8AAD82566B3}"/>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BA84CEAB-07A0-AE79-B5CA-C77C82BB21F8}"/>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1986A3ED-9BE1-1372-5014-837EE88E16D9}"/>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0C952D1-7630-6EBE-C32F-3C01B91F7E53}"/>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DA08D5FB-ECE4-7621-E359-6ADED152B764}"/>
              </a:ext>
            </a:extLst>
          </p:cNvPr>
          <p:cNvSpPr txBox="1"/>
          <p:nvPr/>
        </p:nvSpPr>
        <p:spPr>
          <a:xfrm>
            <a:off x="224589" y="465221"/>
            <a:ext cx="8069179" cy="369332"/>
          </a:xfrm>
          <a:prstGeom prst="rect">
            <a:avLst/>
          </a:prstGeom>
          <a:noFill/>
        </p:spPr>
        <p:txBody>
          <a:bodyPr wrap="square" rtlCol="0">
            <a:spAutoFit/>
          </a:bodyPr>
          <a:lstStyle/>
          <a:p>
            <a:r>
              <a:rPr lang="en-IN" dirty="0"/>
              <a:t>ds</a:t>
            </a:r>
          </a:p>
        </p:txBody>
      </p:sp>
      <p:pic>
        <p:nvPicPr>
          <p:cNvPr id="6" name="Picture 5" descr="The image is a table displaying the performance metrics (precision, recall, and F1 score) for various machine learning classifiers.&#10;&#10;AI-generated content may be incorrect.">
            <a:extLst>
              <a:ext uri="{FF2B5EF4-FFF2-40B4-BE49-F238E27FC236}">
                <a16:creationId xmlns:a16="http://schemas.microsoft.com/office/drawing/2014/main" id="{710550A8-584D-6B93-1D4C-CD7374DD0EC1}"/>
              </a:ext>
            </a:extLst>
          </p:cNvPr>
          <p:cNvPicPr>
            <a:picLocks noChangeAspect="1"/>
          </p:cNvPicPr>
          <p:nvPr/>
        </p:nvPicPr>
        <p:blipFill>
          <a:blip r:embed="rId7"/>
          <a:stretch>
            <a:fillRect/>
          </a:stretch>
        </p:blipFill>
        <p:spPr>
          <a:xfrm>
            <a:off x="1574674" y="1642091"/>
            <a:ext cx="2638926" cy="1589600"/>
          </a:xfrm>
          <a:prstGeom prst="rect">
            <a:avLst/>
          </a:prstGeom>
        </p:spPr>
      </p:pic>
      <p:pic>
        <p:nvPicPr>
          <p:cNvPr id="8" name="Picture 7" descr="The image appears to be a bar chart or histogram showing various measurements related to semiconductor manufacturing, such as defect count, edge ratio, and particle contamination index, among others.&#10;&#10;AI-generated content may be incorrect.">
            <a:extLst>
              <a:ext uri="{FF2B5EF4-FFF2-40B4-BE49-F238E27FC236}">
                <a16:creationId xmlns:a16="http://schemas.microsoft.com/office/drawing/2014/main" id="{265D5155-DAF7-78AD-A7CF-9407BB64F20F}"/>
              </a:ext>
            </a:extLst>
          </p:cNvPr>
          <p:cNvPicPr>
            <a:picLocks noChangeAspect="1"/>
          </p:cNvPicPr>
          <p:nvPr/>
        </p:nvPicPr>
        <p:blipFill>
          <a:blip r:embed="rId8"/>
          <a:stretch>
            <a:fillRect/>
          </a:stretch>
        </p:blipFill>
        <p:spPr>
          <a:xfrm>
            <a:off x="4686021" y="1602922"/>
            <a:ext cx="2687801" cy="1589600"/>
          </a:xfrm>
          <a:prstGeom prst="rect">
            <a:avLst/>
          </a:prstGeom>
        </p:spPr>
      </p:pic>
      <p:pic>
        <p:nvPicPr>
          <p:cNvPr id="11" name="Picture 10" descr="The image displays a series of simulated wafer maps, each categorized by different patterns or conditions such as normal, center, donut, edge-loc, edge-ring, loc, random, and scratch, with varying levels of fullness.&#10;&#10;AI-generated content may be incorrect.">
            <a:extLst>
              <a:ext uri="{FF2B5EF4-FFF2-40B4-BE49-F238E27FC236}">
                <a16:creationId xmlns:a16="http://schemas.microsoft.com/office/drawing/2014/main" id="{C5610BFA-56D1-425B-A692-EB2078723A6D}"/>
              </a:ext>
            </a:extLst>
          </p:cNvPr>
          <p:cNvPicPr>
            <a:picLocks noChangeAspect="1"/>
          </p:cNvPicPr>
          <p:nvPr/>
        </p:nvPicPr>
        <p:blipFill>
          <a:blip r:embed="rId9"/>
          <a:stretch>
            <a:fillRect/>
          </a:stretch>
        </p:blipFill>
        <p:spPr>
          <a:xfrm>
            <a:off x="160421" y="212921"/>
            <a:ext cx="8823158" cy="1335863"/>
          </a:xfrm>
          <a:prstGeom prst="rect">
            <a:avLst/>
          </a:prstGeom>
        </p:spPr>
      </p:pic>
      <p:pic>
        <p:nvPicPr>
          <p:cNvPr id="16" name="Picture 15" descr="The image displays a bar chart comparing the performance of various machine learning models on a test set, with SVM (RBF) having the highest accuracy, precision, recall, and F1 score.&#10;&#10;AI-generated content may be incorrect.">
            <a:extLst>
              <a:ext uri="{FF2B5EF4-FFF2-40B4-BE49-F238E27FC236}">
                <a16:creationId xmlns:a16="http://schemas.microsoft.com/office/drawing/2014/main" id="{ADA1A3DB-813E-A92D-BBF8-AC5368749150}"/>
              </a:ext>
            </a:extLst>
          </p:cNvPr>
          <p:cNvPicPr>
            <a:picLocks noChangeAspect="1"/>
          </p:cNvPicPr>
          <p:nvPr/>
        </p:nvPicPr>
        <p:blipFill>
          <a:blip r:embed="rId10"/>
          <a:stretch>
            <a:fillRect/>
          </a:stretch>
        </p:blipFill>
        <p:spPr>
          <a:xfrm>
            <a:off x="4173597" y="3318365"/>
            <a:ext cx="3200225" cy="2106131"/>
          </a:xfrm>
          <a:prstGeom prst="rect">
            <a:avLst/>
          </a:prstGeom>
        </p:spPr>
      </p:pic>
      <p:pic>
        <p:nvPicPr>
          <p:cNvPr id="18" name="Picture 17" descr="The provided text appears to be a confusion matrix for a neural network (ANN, Multi-Layer Perceptron) with various performance metrics, but it lacks an actual image to describe. If you have an image, please provide it, and I'll be happy to help describe it!&#10;&#10;AI-generated content may be incorrect.">
            <a:extLst>
              <a:ext uri="{FF2B5EF4-FFF2-40B4-BE49-F238E27FC236}">
                <a16:creationId xmlns:a16="http://schemas.microsoft.com/office/drawing/2014/main" id="{5EE7D683-5A5E-FBCA-90F8-D0DB7D12AAF9}"/>
              </a:ext>
            </a:extLst>
          </p:cNvPr>
          <p:cNvPicPr>
            <a:picLocks noChangeAspect="1"/>
          </p:cNvPicPr>
          <p:nvPr/>
        </p:nvPicPr>
        <p:blipFill>
          <a:blip r:embed="rId11"/>
          <a:stretch>
            <a:fillRect/>
          </a:stretch>
        </p:blipFill>
        <p:spPr>
          <a:xfrm>
            <a:off x="1574674" y="3336051"/>
            <a:ext cx="2323557" cy="2104870"/>
          </a:xfrm>
          <a:prstGeom prst="rect">
            <a:avLst/>
          </a:prstGeom>
        </p:spPr>
      </p:pic>
    </p:spTree>
    <p:extLst>
      <p:ext uri="{BB962C8B-B14F-4D97-AF65-F5344CB8AC3E}">
        <p14:creationId xmlns:p14="http://schemas.microsoft.com/office/powerpoint/2010/main" val="732150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DEC25853-7AFF-80F8-EF69-B60AF51876BD}"/>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C0E56288-CAD0-382A-E1DA-A964369CEEC3}"/>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DAE6992C-06D7-202B-2540-2B162DA25692}"/>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F9F5A55-2BE3-112D-8BF3-F28B03E77F97}"/>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6" name="Picture 5" descr="The diagram shows a learning curve for a Convolutional Neural Network (CNN), with the training and validation accuracy increasing over time, while the training and validation loss decreasing.&#10;&#10;AI-generated content may be incorrect.">
            <a:extLst>
              <a:ext uri="{FF2B5EF4-FFF2-40B4-BE49-F238E27FC236}">
                <a16:creationId xmlns:a16="http://schemas.microsoft.com/office/drawing/2014/main" id="{3E6E5965-B720-0C8A-E431-44BAD867291D}"/>
              </a:ext>
            </a:extLst>
          </p:cNvPr>
          <p:cNvPicPr>
            <a:picLocks noChangeAspect="1"/>
          </p:cNvPicPr>
          <p:nvPr/>
        </p:nvPicPr>
        <p:blipFill>
          <a:blip r:embed="rId7"/>
          <a:stretch>
            <a:fillRect/>
          </a:stretch>
        </p:blipFill>
        <p:spPr>
          <a:xfrm>
            <a:off x="1061592" y="2762123"/>
            <a:ext cx="7176029" cy="2646572"/>
          </a:xfrm>
          <a:prstGeom prst="rect">
            <a:avLst/>
          </a:prstGeom>
        </p:spPr>
      </p:pic>
      <p:pic>
        <p:nvPicPr>
          <p:cNvPr id="8" name="Picture 7" descr="This image shows a progress chart for training a machine learning model, displaying metrics like epochs, accuracy, and loss for both training and validation sets.&#10;&#10;AI-generated content may be incorrect.">
            <a:extLst>
              <a:ext uri="{FF2B5EF4-FFF2-40B4-BE49-F238E27FC236}">
                <a16:creationId xmlns:a16="http://schemas.microsoft.com/office/drawing/2014/main" id="{C839055F-9449-38BF-7FCF-16F402BDED66}"/>
              </a:ext>
            </a:extLst>
          </p:cNvPr>
          <p:cNvPicPr>
            <a:picLocks noChangeAspect="1"/>
          </p:cNvPicPr>
          <p:nvPr/>
        </p:nvPicPr>
        <p:blipFill>
          <a:blip r:embed="rId8"/>
          <a:stretch>
            <a:fillRect/>
          </a:stretch>
        </p:blipFill>
        <p:spPr>
          <a:xfrm>
            <a:off x="3763232" y="196492"/>
            <a:ext cx="5220346" cy="2197415"/>
          </a:xfrm>
          <a:prstGeom prst="rect">
            <a:avLst/>
          </a:prstGeom>
        </p:spPr>
      </p:pic>
      <p:pic>
        <p:nvPicPr>
          <p:cNvPr id="11" name="Picture 10" descr="The image depicts a neural network model architecture, showing layers such as Conv2D, MaxPooling2D, Flatten, Dense, and Dropout, with the final output shape being (None, 9).&#10;&#10;AI-generated content may be incorrect.">
            <a:extLst>
              <a:ext uri="{FF2B5EF4-FFF2-40B4-BE49-F238E27FC236}">
                <a16:creationId xmlns:a16="http://schemas.microsoft.com/office/drawing/2014/main" id="{8FF73919-AFB1-A7B0-5F2B-84CD1E32BFB7}"/>
              </a:ext>
            </a:extLst>
          </p:cNvPr>
          <p:cNvPicPr>
            <a:picLocks noChangeAspect="1"/>
          </p:cNvPicPr>
          <p:nvPr/>
        </p:nvPicPr>
        <p:blipFill>
          <a:blip r:embed="rId9"/>
          <a:stretch>
            <a:fillRect/>
          </a:stretch>
        </p:blipFill>
        <p:spPr>
          <a:xfrm>
            <a:off x="160422" y="196491"/>
            <a:ext cx="3522600" cy="2197415"/>
          </a:xfrm>
          <a:prstGeom prst="rect">
            <a:avLst/>
          </a:prstGeom>
        </p:spPr>
      </p:pic>
    </p:spTree>
    <p:extLst>
      <p:ext uri="{BB962C8B-B14F-4D97-AF65-F5344CB8AC3E}">
        <p14:creationId xmlns:p14="http://schemas.microsoft.com/office/powerpoint/2010/main" val="4156332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4FDBF8D6-1799-CF86-95E1-29CB16F47991}"/>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1CEFEE29-F429-26EA-20EA-2AE45AA9BDCE}"/>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22FDEDCD-20A1-C571-BA22-EE0DA2A47FA4}"/>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EE60E32-0E02-9800-165F-DD0721A235A1}"/>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6" name="Picture 5" descr="The text describes the installation of the necessary libraries and the execution of a Streamlit application, which is then run using Pyngrok to expose it as a public URL.&#10;&#10;AI-generated content may be incorrect.">
            <a:extLst>
              <a:ext uri="{FF2B5EF4-FFF2-40B4-BE49-F238E27FC236}">
                <a16:creationId xmlns:a16="http://schemas.microsoft.com/office/drawing/2014/main" id="{4B8E1ED4-7EFD-1B19-7540-67E974883E13}"/>
              </a:ext>
            </a:extLst>
          </p:cNvPr>
          <p:cNvPicPr>
            <a:picLocks noChangeAspect="1"/>
          </p:cNvPicPr>
          <p:nvPr/>
        </p:nvPicPr>
        <p:blipFill>
          <a:blip r:embed="rId7"/>
          <a:srcRect b="3449"/>
          <a:stretch>
            <a:fillRect/>
          </a:stretch>
        </p:blipFill>
        <p:spPr>
          <a:xfrm>
            <a:off x="1033738" y="3007493"/>
            <a:ext cx="6735115" cy="2317835"/>
          </a:xfrm>
          <a:prstGeom prst="rect">
            <a:avLst/>
          </a:prstGeom>
        </p:spPr>
      </p:pic>
      <p:pic>
        <p:nvPicPr>
          <p:cNvPr id="8" name="Picture 7" descr="The diagram illustrates a comparison of different machine learning models, including Tabular ML, CNN, SVM (RBF), XGBoost, and ANN (MLP), with a focus on their performance metrics such as accuracy, precision, recall, and F1 score, where CNN (Wafer-Map) shows the highest accuracy at 85%.&#10;&#10;AI-generated content may be incorrect.">
            <a:extLst>
              <a:ext uri="{FF2B5EF4-FFF2-40B4-BE49-F238E27FC236}">
                <a16:creationId xmlns:a16="http://schemas.microsoft.com/office/drawing/2014/main" id="{4192F723-3488-C5E8-706E-028563F86EFE}"/>
              </a:ext>
            </a:extLst>
          </p:cNvPr>
          <p:cNvPicPr>
            <a:picLocks noChangeAspect="1"/>
          </p:cNvPicPr>
          <p:nvPr/>
        </p:nvPicPr>
        <p:blipFill>
          <a:blip r:embed="rId8"/>
          <a:stretch>
            <a:fillRect/>
          </a:stretch>
        </p:blipFill>
        <p:spPr>
          <a:xfrm>
            <a:off x="3176324" y="422192"/>
            <a:ext cx="5807255" cy="2400635"/>
          </a:xfrm>
          <a:prstGeom prst="rect">
            <a:avLst/>
          </a:prstGeom>
        </p:spPr>
      </p:pic>
      <p:pic>
        <p:nvPicPr>
          <p:cNvPr id="11" name="Picture 10" descr="This is a confusion matrix for a CNN (Convolutional Neural Network) model, showing various prediction accuracy levels for different types of images such as Donut, Edge-Loc, Edge-Ring, Loc, Normal, and Scratch.&#10;&#10;AI-generated content may be incorrect.">
            <a:extLst>
              <a:ext uri="{FF2B5EF4-FFF2-40B4-BE49-F238E27FC236}">
                <a16:creationId xmlns:a16="http://schemas.microsoft.com/office/drawing/2014/main" id="{CCB77FEC-3FE4-6ACD-C445-DE43E2A9178C}"/>
              </a:ext>
            </a:extLst>
          </p:cNvPr>
          <p:cNvPicPr>
            <a:picLocks noChangeAspect="1"/>
          </p:cNvPicPr>
          <p:nvPr/>
        </p:nvPicPr>
        <p:blipFill>
          <a:blip r:embed="rId9"/>
          <a:stretch>
            <a:fillRect/>
          </a:stretch>
        </p:blipFill>
        <p:spPr>
          <a:xfrm>
            <a:off x="160421" y="422192"/>
            <a:ext cx="2919651" cy="2400635"/>
          </a:xfrm>
          <a:prstGeom prst="rect">
            <a:avLst/>
          </a:prstGeom>
        </p:spPr>
      </p:pic>
    </p:spTree>
    <p:extLst>
      <p:ext uri="{BB962C8B-B14F-4D97-AF65-F5344CB8AC3E}">
        <p14:creationId xmlns:p14="http://schemas.microsoft.com/office/powerpoint/2010/main" val="397553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2EC11CAA-45B7-76E2-A042-19F6E1BBCF6C}"/>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55DB6C0B-3318-9B1D-8633-6871FADC8E65}"/>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1DE65C88-F0A9-BE48-82C6-60DF33B550E2}"/>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303DB78-8224-6144-0B45-A86BB02FDBC9}"/>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6" name="Picture 5" descr="The image is a Semiconductor Defect Intelligence Dashboard, showing various metrics such as defect count, defect density, oxide thickness, and other parameters like edge roughness, etch uniformity, and yield, all of which are displayed in a graphical format.&#10;&#10;AI-generated content may be incorrect.">
            <a:extLst>
              <a:ext uri="{FF2B5EF4-FFF2-40B4-BE49-F238E27FC236}">
                <a16:creationId xmlns:a16="http://schemas.microsoft.com/office/drawing/2014/main" id="{486394AF-B83C-78F3-E943-B24F765E0FCD}"/>
              </a:ext>
            </a:extLst>
          </p:cNvPr>
          <p:cNvPicPr>
            <a:picLocks noChangeAspect="1"/>
          </p:cNvPicPr>
          <p:nvPr/>
        </p:nvPicPr>
        <p:blipFill>
          <a:blip r:embed="rId7"/>
          <a:stretch>
            <a:fillRect/>
          </a:stretch>
        </p:blipFill>
        <p:spPr>
          <a:xfrm>
            <a:off x="4467726" y="160422"/>
            <a:ext cx="4323349" cy="2477740"/>
          </a:xfrm>
          <a:prstGeom prst="rect">
            <a:avLst/>
          </a:prstGeom>
        </p:spPr>
      </p:pic>
      <p:pic>
        <p:nvPicPr>
          <p:cNvPr id="8" name="Picture 7" descr="The image displays a semiconductor defect intelligence dashboard with various metrics, including defect count, oxide thickness, defect density, and other measurements related to defects and etch uniformity.&#10;&#10;AI-generated content may be incorrect.">
            <a:extLst>
              <a:ext uri="{FF2B5EF4-FFF2-40B4-BE49-F238E27FC236}">
                <a16:creationId xmlns:a16="http://schemas.microsoft.com/office/drawing/2014/main" id="{D12C44FA-0F03-5729-169C-98F761E032F3}"/>
              </a:ext>
            </a:extLst>
          </p:cNvPr>
          <p:cNvPicPr>
            <a:picLocks noChangeAspect="1"/>
          </p:cNvPicPr>
          <p:nvPr/>
        </p:nvPicPr>
        <p:blipFill>
          <a:blip r:embed="rId8"/>
          <a:stretch>
            <a:fillRect/>
          </a:stretch>
        </p:blipFill>
        <p:spPr>
          <a:xfrm>
            <a:off x="160422" y="2638162"/>
            <a:ext cx="3962400" cy="2414678"/>
          </a:xfrm>
          <a:prstGeom prst="rect">
            <a:avLst/>
          </a:prstGeom>
        </p:spPr>
      </p:pic>
      <p:pic>
        <p:nvPicPr>
          <p:cNvPr id="11" name="Picture 10" descr="The image displays a semiconductor defect intelligence dashboard with various metrics such as defect count, defect density, critical dimension, overlay error, and others, indicating the status and performance of semiconductor manufacturing processes.&#10;&#10;AI-generated content may be incorrect.">
            <a:extLst>
              <a:ext uri="{FF2B5EF4-FFF2-40B4-BE49-F238E27FC236}">
                <a16:creationId xmlns:a16="http://schemas.microsoft.com/office/drawing/2014/main" id="{F378FA6E-AFC6-B559-13C3-20BE9F3004F3}"/>
              </a:ext>
            </a:extLst>
          </p:cNvPr>
          <p:cNvPicPr>
            <a:picLocks noChangeAspect="1"/>
          </p:cNvPicPr>
          <p:nvPr/>
        </p:nvPicPr>
        <p:blipFill>
          <a:blip r:embed="rId9"/>
          <a:stretch>
            <a:fillRect/>
          </a:stretch>
        </p:blipFill>
        <p:spPr>
          <a:xfrm>
            <a:off x="4467726" y="2742436"/>
            <a:ext cx="4323349" cy="2317244"/>
          </a:xfrm>
          <a:prstGeom prst="rect">
            <a:avLst/>
          </a:prstGeom>
        </p:spPr>
      </p:pic>
      <p:pic>
        <p:nvPicPr>
          <p:cNvPr id="13" name="Picture 12" descr="The image is a dashboard interface for a machine learning application, the WaferFab Intelligence Dashboard, designed for real-time detection and diagnosis of semiconductor process excursions.&#10;&#10;AI-generated content may be incorrect.">
            <a:extLst>
              <a:ext uri="{FF2B5EF4-FFF2-40B4-BE49-F238E27FC236}">
                <a16:creationId xmlns:a16="http://schemas.microsoft.com/office/drawing/2014/main" id="{B571A2DB-1BFD-1852-1E1C-88345A0274EC}"/>
              </a:ext>
            </a:extLst>
          </p:cNvPr>
          <p:cNvPicPr>
            <a:picLocks noChangeAspect="1"/>
          </p:cNvPicPr>
          <p:nvPr/>
        </p:nvPicPr>
        <p:blipFill>
          <a:blip r:embed="rId10"/>
          <a:stretch>
            <a:fillRect/>
          </a:stretch>
        </p:blipFill>
        <p:spPr>
          <a:xfrm>
            <a:off x="160422" y="160421"/>
            <a:ext cx="4307304" cy="2477741"/>
          </a:xfrm>
          <a:prstGeom prst="rect">
            <a:avLst/>
          </a:prstGeom>
        </p:spPr>
      </p:pic>
    </p:spTree>
    <p:extLst>
      <p:ext uri="{BB962C8B-B14F-4D97-AF65-F5344CB8AC3E}">
        <p14:creationId xmlns:p14="http://schemas.microsoft.com/office/powerpoint/2010/main" val="3321245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0A5D837B-A7D6-BFF5-4A2F-3E77578EFD63}"/>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286E7852-CCA4-DDC6-4153-68193D609549}"/>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3C35D494-045E-4C30-CB9C-0B6F424F7115}"/>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9E37BB1-4AD2-D123-66CB-4179646D3088}"/>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pic>
        <p:nvPicPr>
          <p:cNvPr id="6" name="Picture 5" descr="semiconductor-wafer-defect-classifier&#10;&#10;AI-generated content may be incorrect.">
            <a:extLst>
              <a:ext uri="{FF2B5EF4-FFF2-40B4-BE49-F238E27FC236}">
                <a16:creationId xmlns:a16="http://schemas.microsoft.com/office/drawing/2014/main" id="{6C9C36FB-4691-9297-0C92-2640B93DF054}"/>
              </a:ext>
            </a:extLst>
          </p:cNvPr>
          <p:cNvPicPr>
            <a:picLocks noChangeAspect="1"/>
          </p:cNvPicPr>
          <p:nvPr/>
        </p:nvPicPr>
        <p:blipFill>
          <a:blip r:embed="rId7"/>
          <a:stretch>
            <a:fillRect/>
          </a:stretch>
        </p:blipFill>
        <p:spPr>
          <a:xfrm>
            <a:off x="230211" y="165968"/>
            <a:ext cx="8753368" cy="1678603"/>
          </a:xfrm>
          <a:prstGeom prst="rect">
            <a:avLst/>
          </a:prstGeom>
        </p:spPr>
      </p:pic>
      <p:pic>
        <p:nvPicPr>
          <p:cNvPr id="8" name="Picture 7" descr="The image displays a semiconductor defect intelligence dashboard with various metrics, including defect count, oxide thickness, defect density, and other measurements related to defects and etch uniformity.&#10;&#10;AI-generated content may be incorrect.">
            <a:extLst>
              <a:ext uri="{FF2B5EF4-FFF2-40B4-BE49-F238E27FC236}">
                <a16:creationId xmlns:a16="http://schemas.microsoft.com/office/drawing/2014/main" id="{875B62F0-A92F-6E76-D13E-3226F7EEF637}"/>
              </a:ext>
            </a:extLst>
          </p:cNvPr>
          <p:cNvPicPr>
            <a:picLocks noChangeAspect="1"/>
          </p:cNvPicPr>
          <p:nvPr/>
        </p:nvPicPr>
        <p:blipFill>
          <a:blip r:embed="rId8"/>
          <a:stretch>
            <a:fillRect/>
          </a:stretch>
        </p:blipFill>
        <p:spPr>
          <a:xfrm>
            <a:off x="230211" y="1844571"/>
            <a:ext cx="8753368" cy="3630891"/>
          </a:xfrm>
          <a:prstGeom prst="rect">
            <a:avLst/>
          </a:prstGeom>
        </p:spPr>
      </p:pic>
    </p:spTree>
    <p:extLst>
      <p:ext uri="{BB962C8B-B14F-4D97-AF65-F5344CB8AC3E}">
        <p14:creationId xmlns:p14="http://schemas.microsoft.com/office/powerpoint/2010/main" val="3405427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t="-6000" r="-21000"/>
          </a:stretch>
        </a:blipFill>
        <a:effectLst/>
      </p:bgPr>
    </p:bg>
    <p:spTree>
      <p:nvGrpSpPr>
        <p:cNvPr id="1" name="">
          <a:extLst>
            <a:ext uri="{FF2B5EF4-FFF2-40B4-BE49-F238E27FC236}">
              <a16:creationId xmlns:a16="http://schemas.microsoft.com/office/drawing/2014/main" id="{7BBF61FA-C444-4004-B6FD-E068978E5B12}"/>
            </a:ext>
          </a:extLst>
        </p:cNvPr>
        <p:cNvGrpSpPr/>
        <p:nvPr/>
      </p:nvGrpSpPr>
      <p:grpSpPr>
        <a:xfrm>
          <a:off x="0" y="0"/>
          <a:ext cx="0" cy="0"/>
          <a:chOff x="0" y="0"/>
          <a:chExt cx="0" cy="0"/>
        </a:xfrm>
      </p:grpSpPr>
      <p:pic>
        <p:nvPicPr>
          <p:cNvPr id="2" name="Image 0" descr="footer_bright.png">
            <a:extLst>
              <a:ext uri="{FF2B5EF4-FFF2-40B4-BE49-F238E27FC236}">
                <a16:creationId xmlns:a16="http://schemas.microsoft.com/office/drawing/2014/main" id="{8B1B7C8B-726B-8FAB-8AE1-F1998C307A66}"/>
              </a:ext>
            </a:extLst>
          </p:cNvPr>
          <p:cNvPicPr>
            <a:picLocks noChangeAspect="1"/>
          </p:cNvPicPr>
          <p:nvPr/>
        </p:nvPicPr>
        <p:blipFill>
          <a:blip r:embed="rId4"/>
          <a:stretch>
            <a:fillRect/>
          </a:stretch>
        </p:blipFill>
        <p:spPr>
          <a:xfrm>
            <a:off x="0" y="5958840"/>
            <a:ext cx="9144000" cy="899160"/>
          </a:xfrm>
          <a:prstGeom prst="rect">
            <a:avLst/>
          </a:prstGeom>
        </p:spPr>
      </p:pic>
      <p:sp>
        <p:nvSpPr>
          <p:cNvPr id="3" name="Rectangle 2">
            <a:extLst>
              <a:ext uri="{FF2B5EF4-FFF2-40B4-BE49-F238E27FC236}">
                <a16:creationId xmlns:a16="http://schemas.microsoft.com/office/drawing/2014/main" id="{51AF5FD8-49FB-6899-136C-AFB63C5238DC}"/>
              </a:ext>
            </a:extLst>
          </p:cNvPr>
          <p:cNvSpPr/>
          <p:nvPr/>
        </p:nvSpPr>
        <p:spPr>
          <a:xfrm>
            <a:off x="80212" y="56147"/>
            <a:ext cx="8967536" cy="5902693"/>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6E02D38-72B7-D140-74CD-A2C42071CF48}"/>
              </a:ext>
            </a:extLst>
          </p:cNvPr>
          <p:cNvSpPr txBox="1"/>
          <p:nvPr/>
        </p:nvSpPr>
        <p:spPr>
          <a:xfrm>
            <a:off x="160421" y="5589508"/>
            <a:ext cx="8823158" cy="369332"/>
          </a:xfrm>
          <a:prstGeom prst="rect">
            <a:avLst/>
          </a:prstGeom>
          <a:noFill/>
        </p:spPr>
        <p:txBody>
          <a:bodyPr wrap="square" rtlCol="0">
            <a:spAutoFit/>
          </a:bodyPr>
          <a:lstStyle/>
          <a:p>
            <a:pPr algn="ctr"/>
            <a:r>
              <a:rPr lang="en-IN" sz="900" b="1" dirty="0">
                <a:latin typeface="Times New Roman" panose="02020603050405020304" pitchFamily="18" charset="0"/>
                <a:cs typeface="Times New Roman" panose="02020603050405020304" pitchFamily="18" charset="0"/>
              </a:rPr>
              <a:t>Github Repository : </a:t>
            </a:r>
            <a:r>
              <a:rPr lang="en-IN" sz="9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https://github.com/Shrikant-Kudale/Semiconductor-Wafer-Defect-Classifier---CeNSE-IISc-Bangalore/tree/main</a:t>
            </a:r>
            <a:endParaRPr lang="en-IN" sz="900" dirty="0">
              <a:solidFill>
                <a:srgbClr val="0070C0"/>
              </a:solidFill>
              <a:latin typeface="Times New Roman" panose="02020603050405020304" pitchFamily="18" charset="0"/>
              <a:cs typeface="Times New Roman" panose="02020603050405020304" pitchFamily="18" charset="0"/>
            </a:endParaRPr>
          </a:p>
          <a:p>
            <a:pPr algn="ctr"/>
            <a:r>
              <a:rPr lang="en-IN" sz="900" b="1" dirty="0">
                <a:latin typeface="Times New Roman" panose="02020603050405020304" pitchFamily="18" charset="0"/>
                <a:cs typeface="Times New Roman" panose="02020603050405020304" pitchFamily="18" charset="0"/>
              </a:rPr>
              <a:t>Streamlit Deployed App : </a:t>
            </a:r>
            <a:r>
              <a:rPr lang="en-IN" sz="9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https://semiconductor-wafer-defect-classifier-cense-iisc-bangalore.streamlit.app/</a:t>
            </a:r>
            <a:r>
              <a:rPr lang="en-IN" sz="900" dirty="0">
                <a:solidFill>
                  <a:srgbClr val="0070C0"/>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6A1506BB-781B-792F-E40E-17A124931CEF}"/>
              </a:ext>
            </a:extLst>
          </p:cNvPr>
          <p:cNvSpPr txBox="1"/>
          <p:nvPr/>
        </p:nvSpPr>
        <p:spPr>
          <a:xfrm>
            <a:off x="2311582" y="2516660"/>
            <a:ext cx="8420074" cy="1564531"/>
          </a:xfrm>
          <a:prstGeom prst="rect">
            <a:avLst/>
          </a:prstGeom>
          <a:noFill/>
        </p:spPr>
        <p:txBody>
          <a:bodyPr wrap="square" rtlCol="0">
            <a:spAutoFit/>
          </a:bodyPr>
          <a:lstStyle/>
          <a:p>
            <a:pPr>
              <a:spcBef>
                <a:spcPts val="600"/>
              </a:spcBef>
              <a:spcAft>
                <a:spcPts val="400"/>
              </a:spcAft>
              <a:buNone/>
            </a:pPr>
            <a:r>
              <a:rPr lang="en-IN" sz="3200" b="1" dirty="0">
                <a:effectLst/>
                <a:latin typeface="Times New Roman" panose="02020603050405020304" pitchFamily="18" charset="0"/>
                <a:ea typeface="Times New Roman" panose="02020603050405020304" pitchFamily="18" charset="0"/>
              </a:rPr>
              <a:t>Thank You</a:t>
            </a:r>
            <a:endParaRPr lang="en-IN" sz="3200" dirty="0">
              <a:effectLst/>
              <a:latin typeface="Times New Roman" panose="02020603050405020304" pitchFamily="18" charset="0"/>
              <a:ea typeface="Times New Roman" panose="02020603050405020304" pitchFamily="18" charset="0"/>
            </a:endParaRPr>
          </a:p>
          <a:p>
            <a:pPr>
              <a:spcBef>
                <a:spcPts val="400"/>
              </a:spcBef>
              <a:spcAft>
                <a:spcPts val="400"/>
              </a:spcAft>
              <a:buNone/>
            </a:pPr>
            <a:r>
              <a:rPr lang="en-IN" sz="2800" dirty="0">
                <a:effectLst/>
                <a:latin typeface="Times New Roman" panose="02020603050405020304" pitchFamily="18" charset="0"/>
                <a:ea typeface="Times New Roman" panose="02020603050405020304" pitchFamily="18" charset="0"/>
              </a:rPr>
              <a:t>Acknowledgements</a:t>
            </a:r>
            <a:endParaRPr lang="en-IN" sz="1600" dirty="0">
              <a:effectLst/>
              <a:latin typeface="Times New Roman" panose="02020603050405020304" pitchFamily="18" charset="0"/>
              <a:ea typeface="Times New Roman" panose="02020603050405020304" pitchFamily="18" charset="0"/>
            </a:endParaRPr>
          </a:p>
          <a:p>
            <a:pPr>
              <a:spcBef>
                <a:spcPts val="200"/>
              </a:spcBef>
              <a:spcAft>
                <a:spcPts val="200"/>
              </a:spcAft>
              <a:buNone/>
            </a:pPr>
            <a:r>
              <a:rPr lang="en-IN" sz="2400" dirty="0" err="1">
                <a:effectLst/>
                <a:latin typeface="Times New Roman" panose="02020603050405020304" pitchFamily="18" charset="0"/>
                <a:ea typeface="Times New Roman" panose="02020603050405020304" pitchFamily="18" charset="0"/>
              </a:rPr>
              <a:t>MoTA</a:t>
            </a:r>
            <a:r>
              <a:rPr lang="en-IN" sz="2400" dirty="0">
                <a:effectLst/>
                <a:latin typeface="Times New Roman" panose="02020603050405020304" pitchFamily="18" charset="0"/>
                <a:ea typeface="Times New Roman" panose="02020603050405020304" pitchFamily="18" charset="0"/>
              </a:rPr>
              <a:t> Foundation Training Program</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17393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97</TotalTime>
  <Words>3940</Words>
  <Application>Microsoft Office PowerPoint</Application>
  <PresentationFormat>On-screen Show (4:3)</PresentationFormat>
  <Paragraphs>336</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Sourabh Waghmare</cp:lastModifiedBy>
  <cp:revision>12</cp:revision>
  <dcterms:created xsi:type="dcterms:W3CDTF">2026-06-15T10:11:39Z</dcterms:created>
  <dcterms:modified xsi:type="dcterms:W3CDTF">2026-06-15T15:24:16Z</dcterms:modified>
</cp:coreProperties>
</file>